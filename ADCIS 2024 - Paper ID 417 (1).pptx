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5DF0A8-229D-4ABE-876B-BE1B0E2D003B}">
  <a:tblStyle styleId="{375DF0A8-229D-4ABE-876B-BE1B0E2D003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EFB0E77-3F56-45D8-8FC8-37B1A7696D6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c00962ce6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g2c00962ce6d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g2c00962ce6d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c00962ce6d_0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g2c00962ce6d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f83a126041_0_3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3" name="Google Shape;83;g2f83a126041_0_3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g2f83a126041_0_30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f83db00ee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1" name="Google Shape;91;g2f83db00ee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Modality for all of these = Video , Text </a:t>
            </a:r>
            <a:endParaRPr/>
          </a:p>
        </p:txBody>
      </p:sp>
      <p:sp>
        <p:nvSpPr>
          <p:cNvPr id="92" name="Google Shape;92;g2f83db00ee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f83db00ee0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f83db00ee0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g2f83db00ee0_0_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cc1de8d32f_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cc1de8d32f_1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2cc1de8d32f_1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cc1de8d32f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g2cc1de8d32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02d12b48be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02d12b48be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302d12b48be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f83db00ee0_2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f83db00ee0_2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2f83db00ee0_2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02d12b48be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02d12b48be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02d12b48be_0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g302d12b48be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0dc2202e5b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0dc2202e5b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20dc2202e5b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c00962ce6d_0_2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2c00962ce6d_0_2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c00962ce6d_0_2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2c00962ce6d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5" name="Google Shape;15;p2"/>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p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p4"/>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3" name="Google Shape;23;p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6" name="Google Shape;26;p5"/>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7" name="Google Shape;27;p5"/>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8" name="Google Shape;28;p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31" name="Google Shape;31;p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4" name="Google Shape;34;p7"/>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5" name="Google Shape;35;p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8" name="Google Shape;38;p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42" name="Google Shape;42;p9"/>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3" name="Google Shape;43;p9"/>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4" name="Google Shape;44;p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7" name="Google Shape;47;p1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0" name="Google Shape;50;p11"/>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1" name="Google Shape;51;p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p1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56" name="Google Shape;56;p1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1600"/>
              </a:spcAft>
              <a:buClr>
                <a:schemeClr val="dk1"/>
              </a:buClr>
              <a:buSzPts val="1800"/>
              <a:buChar char="■"/>
              <a:defRPr/>
            </a:lvl9pPr>
          </a:lstStyle>
          <a:p/>
        </p:txBody>
      </p:sp>
      <p:sp>
        <p:nvSpPr>
          <p:cNvPr id="57" name="Google Shape;57;p1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11" name="Google Shape;11;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12" name="Google Shape;12;p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doi.org/10.1111/exsy.12920" TargetMode="External"/><Relationship Id="rId4" Type="http://schemas.openxmlformats.org/officeDocument/2006/relationships/hyperlink" Target="https://doi.org/10.1111/exsy.12920" TargetMode="External"/><Relationship Id="rId5" Type="http://schemas.openxmlformats.org/officeDocument/2006/relationships/hyperlink" Target="https://doi.org/10.1109/TCSVT.2021.3058626" TargetMode="External"/><Relationship Id="rId6" Type="http://schemas.openxmlformats.org/officeDocument/2006/relationships/hyperlink" Target="https://doi.org/10.1109/TCSVT.2021.3058626"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ctrTitle"/>
          </p:nvPr>
        </p:nvSpPr>
        <p:spPr>
          <a:xfrm>
            <a:off x="773400" y="1289875"/>
            <a:ext cx="10836600" cy="2387700"/>
          </a:xfrm>
          <a:prstGeom prst="rect">
            <a:avLst/>
          </a:prstGeom>
          <a:noFill/>
          <a:ln>
            <a:noFill/>
          </a:ln>
        </p:spPr>
        <p:txBody>
          <a:bodyPr anchorCtr="0" anchor="b"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t/>
            </a:r>
            <a:endParaRPr b="1" sz="3000"/>
          </a:p>
          <a:p>
            <a:pPr indent="0" lvl="0" marL="0" rtl="0" algn="ctr">
              <a:lnSpc>
                <a:spcPct val="90000"/>
              </a:lnSpc>
              <a:spcBef>
                <a:spcPts val="1200"/>
              </a:spcBef>
              <a:spcAft>
                <a:spcPts val="0"/>
              </a:spcAft>
              <a:buClr>
                <a:schemeClr val="dk1"/>
              </a:buClr>
              <a:buSzPts val="4800"/>
              <a:buFont typeface="Calibri"/>
              <a:buNone/>
            </a:pPr>
            <a:br>
              <a:rPr b="1" lang="en-IN" sz="3000"/>
            </a:br>
            <a:r>
              <a:rPr b="1" lang="en-IN" sz="3000">
                <a:latin typeface="Times New Roman"/>
                <a:ea typeface="Times New Roman"/>
                <a:cs typeface="Times New Roman"/>
                <a:sym typeface="Times New Roman"/>
              </a:rPr>
              <a:t>ADGen: A Multimodal Advertisement Generation Dataset and Video Captioning Framework</a:t>
            </a:r>
            <a:endParaRPr b="1" sz="3000">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800"/>
              <a:buFont typeface="Calibri"/>
              <a:buNone/>
            </a:pPr>
            <a:r>
              <a:t/>
            </a:r>
            <a:endParaRPr b="1" sz="3000">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800"/>
              <a:buFont typeface="Calibri"/>
              <a:buNone/>
            </a:pPr>
            <a:r>
              <a:rPr b="1" lang="en-IN" sz="3000">
                <a:latin typeface="Times New Roman"/>
                <a:ea typeface="Times New Roman"/>
                <a:cs typeface="Times New Roman"/>
                <a:sym typeface="Times New Roman"/>
              </a:rPr>
              <a:t>Paper ID: 417</a:t>
            </a:r>
            <a:endParaRPr b="1" sz="3000">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800"/>
              <a:buFont typeface="Calibri"/>
              <a:buNone/>
            </a:pPr>
            <a:r>
              <a:t/>
            </a:r>
            <a:endParaRPr b="1" sz="3000">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800"/>
              <a:buFont typeface="Calibri"/>
              <a:buNone/>
            </a:pPr>
            <a:r>
              <a:t/>
            </a:r>
            <a:endParaRPr sz="2400">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4800"/>
              <a:buFont typeface="Calibri"/>
              <a:buNone/>
            </a:pPr>
            <a:r>
              <a:rPr lang="en-IN" sz="1800">
                <a:latin typeface="Times New Roman"/>
                <a:ea typeface="Times New Roman"/>
                <a:cs typeface="Times New Roman"/>
                <a:sym typeface="Times New Roman"/>
              </a:rPr>
              <a:t>          Pragathi Y P</a:t>
            </a:r>
            <a:r>
              <a:rPr lang="en-IN" sz="1800">
                <a:latin typeface="Times New Roman"/>
                <a:ea typeface="Times New Roman"/>
                <a:cs typeface="Times New Roman"/>
                <a:sym typeface="Times New Roman"/>
              </a:rPr>
              <a:t>    </a:t>
            </a:r>
            <a:r>
              <a:rPr lang="en-IN" sz="1800">
                <a:latin typeface="Times New Roman"/>
                <a:ea typeface="Times New Roman"/>
                <a:cs typeface="Times New Roman"/>
                <a:sym typeface="Times New Roman"/>
              </a:rPr>
              <a:t> S Swaroop Bharadwaj       </a:t>
            </a:r>
            <a:r>
              <a:rPr lang="en-IN" sz="1800">
                <a:solidFill>
                  <a:srgbClr val="000000"/>
                </a:solidFill>
                <a:latin typeface="Times New Roman"/>
                <a:ea typeface="Times New Roman"/>
                <a:cs typeface="Times New Roman"/>
                <a:sym typeface="Times New Roman"/>
              </a:rPr>
              <a:t>Preetham Kolli       S Sanjith       Kavitha Sooda    Sunayana S</a:t>
            </a:r>
            <a:r>
              <a:rPr lang="en-IN" sz="1800">
                <a:solidFill>
                  <a:srgbClr val="000000"/>
                </a:solidFill>
                <a:latin typeface="Times New Roman"/>
                <a:ea typeface="Times New Roman"/>
                <a:cs typeface="Times New Roman"/>
                <a:sym typeface="Times New Roman"/>
              </a:rPr>
              <a:t>   </a:t>
            </a:r>
            <a:endParaRPr sz="1800">
              <a:solidFill>
                <a:srgbClr val="000000"/>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4800"/>
              <a:buFont typeface="Calibri"/>
              <a:buNone/>
            </a:pPr>
            <a:r>
              <a:rPr lang="en-IN" sz="1800">
                <a:solidFill>
                  <a:srgbClr val="000000"/>
                </a:solidFill>
                <a:latin typeface="Times New Roman"/>
                <a:ea typeface="Times New Roman"/>
                <a:cs typeface="Times New Roman"/>
                <a:sym typeface="Times New Roman"/>
              </a:rPr>
              <a:t>  </a:t>
            </a:r>
            <a:endParaRPr sz="1800">
              <a:solidFill>
                <a:srgbClr val="0000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800"/>
              <a:buFont typeface="Calibri"/>
              <a:buNone/>
            </a:pPr>
            <a:r>
              <a:rPr lang="en-IN" sz="1800">
                <a:solidFill>
                  <a:srgbClr val="000000"/>
                </a:solidFill>
                <a:latin typeface="Times New Roman"/>
                <a:ea typeface="Times New Roman"/>
                <a:cs typeface="Times New Roman"/>
                <a:sym typeface="Times New Roman"/>
              </a:rPr>
              <a:t>B.M.S. College of Engineering, Bangalore</a:t>
            </a:r>
            <a:endParaRPr sz="1800">
              <a:solidFill>
                <a:srgbClr val="0000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800"/>
              <a:buFont typeface="Calibri"/>
              <a:buNone/>
            </a:pPr>
            <a:r>
              <a:rPr lang="en-IN" sz="1800">
                <a:solidFill>
                  <a:srgbClr val="000000"/>
                </a:solidFill>
              </a:rPr>
              <a:t>     </a:t>
            </a:r>
            <a:endParaRPr sz="2400"/>
          </a:p>
        </p:txBody>
      </p:sp>
      <p:sp>
        <p:nvSpPr>
          <p:cNvPr id="66" name="Google Shape;66;p14"/>
          <p:cNvSpPr txBox="1"/>
          <p:nvPr>
            <p:ph idx="1" type="subTitle"/>
          </p:nvPr>
        </p:nvSpPr>
        <p:spPr>
          <a:xfrm>
            <a:off x="773400" y="3677575"/>
            <a:ext cx="10739100" cy="23121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000"/>
              <a:buNone/>
            </a:pPr>
            <a:r>
              <a:t/>
            </a:r>
            <a:endParaRPr>
              <a:solidFill>
                <a:srgbClr val="000000"/>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rPr lang="en-IN" sz="2400">
                <a:solidFill>
                  <a:srgbClr val="000000"/>
                </a:solidFill>
                <a:latin typeface="Times New Roman"/>
                <a:ea typeface="Times New Roman"/>
                <a:cs typeface="Times New Roman"/>
                <a:sym typeface="Times New Roman"/>
              </a:rPr>
              <a:t>3rd International Conference on Advances in Data-driven Computing and Intelligent Systems (ADCIS 2024) </a:t>
            </a:r>
            <a:endParaRPr sz="2400">
              <a:solidFill>
                <a:srgbClr val="000000"/>
              </a:solidFill>
              <a:latin typeface="Times New Roman"/>
              <a:ea typeface="Times New Roman"/>
              <a:cs typeface="Times New Roman"/>
              <a:sym typeface="Times New Roman"/>
            </a:endParaRPr>
          </a:p>
          <a:p>
            <a:pPr indent="0" lvl="0" marL="2743200" rtl="0" algn="l">
              <a:spcBef>
                <a:spcPts val="0"/>
              </a:spcBef>
              <a:spcAft>
                <a:spcPts val="0"/>
              </a:spcAft>
              <a:buClr>
                <a:schemeClr val="dk1"/>
              </a:buClr>
              <a:buSzPts val="1100"/>
              <a:buFont typeface="Arial"/>
              <a:buNone/>
            </a:pPr>
            <a:r>
              <a:rPr lang="en-IN" sz="1900">
                <a:solidFill>
                  <a:srgbClr val="000000"/>
                </a:solidFill>
                <a:latin typeface="Times New Roman"/>
                <a:ea typeface="Times New Roman"/>
                <a:cs typeface="Times New Roman"/>
                <a:sym typeface="Times New Roman"/>
              </a:rPr>
              <a:t>       BITS Pilani, K K Birla Goa Campus, India</a:t>
            </a:r>
            <a:endParaRPr sz="1900">
              <a:solidFill>
                <a:srgbClr val="000000"/>
              </a:solidFill>
              <a:latin typeface="Times New Roman"/>
              <a:ea typeface="Times New Roman"/>
              <a:cs typeface="Times New Roman"/>
              <a:sym typeface="Times New Roman"/>
            </a:endParaRPr>
          </a:p>
          <a:p>
            <a:pPr indent="457200" lvl="0" marL="2743200" rtl="0" algn="l">
              <a:lnSpc>
                <a:spcPct val="90000"/>
              </a:lnSpc>
              <a:spcBef>
                <a:spcPts val="1000"/>
              </a:spcBef>
              <a:spcAft>
                <a:spcPts val="0"/>
              </a:spcAft>
              <a:buClr>
                <a:srgbClr val="000000"/>
              </a:buClr>
              <a:buSzPts val="2000"/>
              <a:buNone/>
            </a:pPr>
            <a:r>
              <a:t/>
            </a:r>
            <a:endParaRPr>
              <a:solidFill>
                <a:srgbClr val="000000"/>
              </a:solidFill>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t/>
            </a:r>
            <a:endParaRPr>
              <a:latin typeface="Times New Roman"/>
              <a:ea typeface="Times New Roman"/>
              <a:cs typeface="Times New Roman"/>
              <a:sym typeface="Times New Roman"/>
            </a:endParaRPr>
          </a:p>
        </p:txBody>
      </p:sp>
      <p:sp>
        <p:nvSpPr>
          <p:cNvPr id="67" name="Google Shape;67;p14"/>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I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448400" y="3205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000">
                <a:latin typeface="Times New Roman"/>
                <a:ea typeface="Times New Roman"/>
                <a:cs typeface="Times New Roman"/>
                <a:sym typeface="Times New Roman"/>
              </a:rPr>
              <a:t>OUTLINE</a:t>
            </a:r>
            <a:endParaRPr sz="3000">
              <a:latin typeface="Times New Roman"/>
              <a:ea typeface="Times New Roman"/>
              <a:cs typeface="Times New Roman"/>
              <a:sym typeface="Times New Roman"/>
            </a:endParaRPr>
          </a:p>
        </p:txBody>
      </p:sp>
      <p:sp>
        <p:nvSpPr>
          <p:cNvPr id="73" name="Google Shape;73;p15"/>
          <p:cNvSpPr txBox="1"/>
          <p:nvPr>
            <p:ph idx="1" type="body"/>
          </p:nvPr>
        </p:nvSpPr>
        <p:spPr>
          <a:xfrm>
            <a:off x="594575" y="1825625"/>
            <a:ext cx="10515600" cy="4351200"/>
          </a:xfrm>
          <a:prstGeom prst="rect">
            <a:avLst/>
          </a:prstGeom>
          <a:noFill/>
          <a:ln>
            <a:noFill/>
          </a:ln>
        </p:spPr>
        <p:txBody>
          <a:bodyPr anchorCtr="0" anchor="t" bIns="45700" lIns="91425" spcFirstLastPara="1" rIns="91425" wrap="square" tIns="45700">
            <a:normAutofit lnSpcReduction="10000"/>
          </a:bodyPr>
          <a:lstStyle/>
          <a:p>
            <a:pPr indent="-457200" lvl="0" marL="457200" rtl="0" algn="l">
              <a:lnSpc>
                <a:spcPct val="90000"/>
              </a:lnSpc>
              <a:spcBef>
                <a:spcPts val="0"/>
              </a:spcBef>
              <a:spcAft>
                <a:spcPts val="0"/>
              </a:spcAft>
              <a:buSzPts val="2800"/>
              <a:buFont typeface="Times New Roman"/>
              <a:buAutoNum type="arabicPeriod"/>
            </a:pPr>
            <a:r>
              <a:rPr lang="en-IN">
                <a:solidFill>
                  <a:schemeClr val="dk1"/>
                </a:solidFill>
                <a:latin typeface="Times New Roman"/>
                <a:ea typeface="Times New Roman"/>
                <a:cs typeface="Times New Roman"/>
                <a:sym typeface="Times New Roman"/>
              </a:rPr>
              <a:t>Introduction</a:t>
            </a:r>
            <a:endParaRPr>
              <a:solidFill>
                <a:schemeClr val="dk1"/>
              </a:solidFill>
              <a:latin typeface="Times New Roman"/>
              <a:ea typeface="Times New Roman"/>
              <a:cs typeface="Times New Roman"/>
              <a:sym typeface="Times New Roman"/>
            </a:endParaRPr>
          </a:p>
          <a:p>
            <a:pPr indent="-457200" lvl="0" marL="457200" rtl="0" algn="l">
              <a:lnSpc>
                <a:spcPct val="90000"/>
              </a:lnSpc>
              <a:spcBef>
                <a:spcPts val="1000"/>
              </a:spcBef>
              <a:spcAft>
                <a:spcPts val="0"/>
              </a:spcAft>
              <a:buSzPts val="2800"/>
              <a:buFont typeface="Times New Roman"/>
              <a:buAutoNum type="arabicPeriod"/>
            </a:pPr>
            <a:r>
              <a:rPr lang="en-IN">
                <a:solidFill>
                  <a:schemeClr val="dk1"/>
                </a:solidFill>
                <a:latin typeface="Times New Roman"/>
                <a:ea typeface="Times New Roman"/>
                <a:cs typeface="Times New Roman"/>
                <a:sym typeface="Times New Roman"/>
              </a:rPr>
              <a:t>Related Works</a:t>
            </a:r>
            <a:endParaRPr>
              <a:solidFill>
                <a:schemeClr val="dk1"/>
              </a:solidFill>
              <a:latin typeface="Times New Roman"/>
              <a:ea typeface="Times New Roman"/>
              <a:cs typeface="Times New Roman"/>
              <a:sym typeface="Times New Roman"/>
            </a:endParaRPr>
          </a:p>
          <a:p>
            <a:pPr indent="-457200" lvl="0" marL="457200" rtl="0" algn="l">
              <a:lnSpc>
                <a:spcPct val="90000"/>
              </a:lnSpc>
              <a:spcBef>
                <a:spcPts val="1000"/>
              </a:spcBef>
              <a:spcAft>
                <a:spcPts val="0"/>
              </a:spcAft>
              <a:buSzPts val="2800"/>
              <a:buFont typeface="Times New Roman"/>
              <a:buAutoNum type="arabicPeriod"/>
            </a:pPr>
            <a:r>
              <a:rPr lang="en-IN">
                <a:solidFill>
                  <a:schemeClr val="dk1"/>
                </a:solidFill>
                <a:latin typeface="Times New Roman"/>
                <a:ea typeface="Times New Roman"/>
                <a:cs typeface="Times New Roman"/>
                <a:sym typeface="Times New Roman"/>
              </a:rPr>
              <a:t>Proposed Captioning Methodology</a:t>
            </a:r>
            <a:endParaRPr>
              <a:solidFill>
                <a:schemeClr val="dk1"/>
              </a:solidFill>
              <a:latin typeface="Times New Roman"/>
              <a:ea typeface="Times New Roman"/>
              <a:cs typeface="Times New Roman"/>
              <a:sym typeface="Times New Roman"/>
            </a:endParaRPr>
          </a:p>
          <a:p>
            <a:pPr indent="-457200" lvl="0" marL="457200" rtl="0" algn="l">
              <a:lnSpc>
                <a:spcPct val="90000"/>
              </a:lnSpc>
              <a:spcBef>
                <a:spcPts val="1000"/>
              </a:spcBef>
              <a:spcAft>
                <a:spcPts val="0"/>
              </a:spcAft>
              <a:buSzPts val="2800"/>
              <a:buFont typeface="Times New Roman"/>
              <a:buAutoNum type="arabicPeriod"/>
            </a:pPr>
            <a:r>
              <a:rPr lang="en-IN">
                <a:solidFill>
                  <a:schemeClr val="dk1"/>
                </a:solidFill>
                <a:latin typeface="Times New Roman"/>
                <a:ea typeface="Times New Roman"/>
                <a:cs typeface="Times New Roman"/>
                <a:sym typeface="Times New Roman"/>
              </a:rPr>
              <a:t>ADGen Dataset</a:t>
            </a:r>
            <a:endParaRPr>
              <a:solidFill>
                <a:schemeClr val="dk1"/>
              </a:solidFill>
              <a:latin typeface="Times New Roman"/>
              <a:ea typeface="Times New Roman"/>
              <a:cs typeface="Times New Roman"/>
              <a:sym typeface="Times New Roman"/>
            </a:endParaRPr>
          </a:p>
          <a:p>
            <a:pPr indent="-457200" lvl="0" marL="457200" rtl="0" algn="l">
              <a:lnSpc>
                <a:spcPct val="90000"/>
              </a:lnSpc>
              <a:spcBef>
                <a:spcPts val="1000"/>
              </a:spcBef>
              <a:spcAft>
                <a:spcPts val="0"/>
              </a:spcAft>
              <a:buSzPts val="2800"/>
              <a:buFont typeface="Times New Roman"/>
              <a:buAutoNum type="arabicPeriod"/>
            </a:pPr>
            <a:r>
              <a:rPr lang="en-IN">
                <a:solidFill>
                  <a:schemeClr val="dk1"/>
                </a:solidFill>
                <a:latin typeface="Times New Roman"/>
                <a:ea typeface="Times New Roman"/>
                <a:cs typeface="Times New Roman"/>
                <a:sym typeface="Times New Roman"/>
              </a:rPr>
              <a:t>Result Discussion</a:t>
            </a:r>
            <a:endParaRPr>
              <a:solidFill>
                <a:schemeClr val="dk1"/>
              </a:solidFill>
              <a:latin typeface="Times New Roman"/>
              <a:ea typeface="Times New Roman"/>
              <a:cs typeface="Times New Roman"/>
              <a:sym typeface="Times New Roman"/>
            </a:endParaRPr>
          </a:p>
          <a:p>
            <a:pPr indent="-457200" lvl="0" marL="457200" rtl="0" algn="l">
              <a:lnSpc>
                <a:spcPct val="90000"/>
              </a:lnSpc>
              <a:spcBef>
                <a:spcPts val="1000"/>
              </a:spcBef>
              <a:spcAft>
                <a:spcPts val="0"/>
              </a:spcAft>
              <a:buSzPts val="2800"/>
              <a:buFont typeface="Times New Roman"/>
              <a:buAutoNum type="arabicPeriod"/>
            </a:pPr>
            <a:r>
              <a:rPr lang="en-IN">
                <a:solidFill>
                  <a:schemeClr val="dk1"/>
                </a:solidFill>
                <a:latin typeface="Times New Roman"/>
                <a:ea typeface="Times New Roman"/>
                <a:cs typeface="Times New Roman"/>
                <a:sym typeface="Times New Roman"/>
              </a:rPr>
              <a:t>Limitations</a:t>
            </a:r>
            <a:endParaRPr>
              <a:solidFill>
                <a:schemeClr val="dk1"/>
              </a:solidFill>
              <a:latin typeface="Times New Roman"/>
              <a:ea typeface="Times New Roman"/>
              <a:cs typeface="Times New Roman"/>
              <a:sym typeface="Times New Roman"/>
            </a:endParaRPr>
          </a:p>
          <a:p>
            <a:pPr indent="-457200" lvl="0" marL="457200" rtl="0" algn="l">
              <a:lnSpc>
                <a:spcPct val="90000"/>
              </a:lnSpc>
              <a:spcBef>
                <a:spcPts val="1000"/>
              </a:spcBef>
              <a:spcAft>
                <a:spcPts val="0"/>
              </a:spcAft>
              <a:buSzPts val="2800"/>
              <a:buFont typeface="Times New Roman"/>
              <a:buAutoNum type="arabicPeriod"/>
            </a:pPr>
            <a:r>
              <a:rPr lang="en-IN">
                <a:solidFill>
                  <a:schemeClr val="dk1"/>
                </a:solidFill>
                <a:latin typeface="Times New Roman"/>
                <a:ea typeface="Times New Roman"/>
                <a:cs typeface="Times New Roman"/>
                <a:sym typeface="Times New Roman"/>
              </a:rPr>
              <a:t>Future Work</a:t>
            </a:r>
            <a:endParaRPr>
              <a:solidFill>
                <a:schemeClr val="dk1"/>
              </a:solidFill>
              <a:latin typeface="Times New Roman"/>
              <a:ea typeface="Times New Roman"/>
              <a:cs typeface="Times New Roman"/>
              <a:sym typeface="Times New Roman"/>
            </a:endParaRPr>
          </a:p>
          <a:p>
            <a:pPr indent="-457200" lvl="0" marL="457200" rtl="0" algn="l">
              <a:lnSpc>
                <a:spcPct val="90000"/>
              </a:lnSpc>
              <a:spcBef>
                <a:spcPts val="1000"/>
              </a:spcBef>
              <a:spcAft>
                <a:spcPts val="0"/>
              </a:spcAft>
              <a:buSzPts val="2800"/>
              <a:buFont typeface="Times New Roman"/>
              <a:buAutoNum type="arabicPeriod"/>
            </a:pPr>
            <a:r>
              <a:rPr lang="en-IN">
                <a:solidFill>
                  <a:schemeClr val="dk1"/>
                </a:solidFill>
                <a:latin typeface="Times New Roman"/>
                <a:ea typeface="Times New Roman"/>
                <a:cs typeface="Times New Roman"/>
                <a:sym typeface="Times New Roman"/>
              </a:rPr>
              <a:t>Conclusion</a:t>
            </a:r>
            <a:endParaRPr>
              <a:solidFill>
                <a:schemeClr val="dk1"/>
              </a:solidFill>
              <a:latin typeface="Times New Roman"/>
              <a:ea typeface="Times New Roman"/>
              <a:cs typeface="Times New Roman"/>
              <a:sym typeface="Times New Roman"/>
            </a:endParaRPr>
          </a:p>
          <a:p>
            <a:pPr indent="-457200" lvl="0" marL="457200" rtl="0" algn="l">
              <a:lnSpc>
                <a:spcPct val="90000"/>
              </a:lnSpc>
              <a:spcBef>
                <a:spcPts val="1000"/>
              </a:spcBef>
              <a:spcAft>
                <a:spcPts val="0"/>
              </a:spcAft>
              <a:buSzPts val="2800"/>
              <a:buFont typeface="Times New Roman"/>
              <a:buAutoNum type="arabicPeriod"/>
            </a:pPr>
            <a:r>
              <a:rPr lang="en-IN">
                <a:solidFill>
                  <a:schemeClr val="dk1"/>
                </a:solidFill>
                <a:latin typeface="Times New Roman"/>
                <a:ea typeface="Times New Roman"/>
                <a:cs typeface="Times New Roman"/>
                <a:sym typeface="Times New Roman"/>
              </a:rPr>
              <a:t>References </a:t>
            </a:r>
            <a:endParaRPr>
              <a:solidFill>
                <a:schemeClr val="dk1"/>
              </a:solidFill>
              <a:latin typeface="Times New Roman"/>
              <a:ea typeface="Times New Roman"/>
              <a:cs typeface="Times New Roman"/>
              <a:sym typeface="Times New Roman"/>
            </a:endParaRPr>
          </a:p>
        </p:txBody>
      </p:sp>
      <p:sp>
        <p:nvSpPr>
          <p:cNvPr id="74" name="Google Shape;7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42835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000">
                <a:latin typeface="Times New Roman"/>
                <a:ea typeface="Times New Roman"/>
                <a:cs typeface="Times New Roman"/>
                <a:sym typeface="Times New Roman"/>
              </a:rPr>
              <a:t>INTRODUCTION</a:t>
            </a:r>
            <a:endParaRPr sz="3000">
              <a:latin typeface="Times New Roman"/>
              <a:ea typeface="Times New Roman"/>
              <a:cs typeface="Times New Roman"/>
              <a:sym typeface="Times New Roman"/>
            </a:endParaRPr>
          </a:p>
        </p:txBody>
      </p:sp>
      <p:sp>
        <p:nvSpPr>
          <p:cNvPr id="80" name="Google Shape;80;p16"/>
          <p:cNvSpPr txBox="1"/>
          <p:nvPr>
            <p:ph idx="1" type="body"/>
          </p:nvPr>
        </p:nvSpPr>
        <p:spPr>
          <a:xfrm>
            <a:off x="529950" y="1501424"/>
            <a:ext cx="10515600" cy="4664400"/>
          </a:xfrm>
          <a:prstGeom prst="rect">
            <a:avLst/>
          </a:prstGeom>
          <a:noFill/>
          <a:ln>
            <a:noFill/>
          </a:ln>
        </p:spPr>
        <p:txBody>
          <a:bodyPr anchorCtr="0" anchor="t" bIns="45700" lIns="91425" spcFirstLastPara="1" rIns="91425" wrap="square" tIns="45700">
            <a:normAutofit fontScale="85000" lnSpcReduction="20000"/>
          </a:bodyPr>
          <a:lstStyle/>
          <a:p>
            <a:pPr indent="-325755" lvl="0" marL="457200" rtl="0" algn="just">
              <a:lnSpc>
                <a:spcPct val="100000"/>
              </a:lnSpc>
              <a:spcBef>
                <a:spcPts val="1000"/>
              </a:spcBef>
              <a:spcAft>
                <a:spcPts val="0"/>
              </a:spcAft>
              <a:buSzPct val="75000"/>
              <a:buFont typeface="Times New Roman"/>
              <a:buChar char="●"/>
            </a:pPr>
            <a:r>
              <a:rPr lang="en-IN">
                <a:solidFill>
                  <a:schemeClr val="dk1"/>
                </a:solidFill>
                <a:latin typeface="Times New Roman"/>
                <a:ea typeface="Times New Roman"/>
                <a:cs typeface="Times New Roman"/>
                <a:sym typeface="Times New Roman"/>
              </a:rPr>
              <a:t>In today's digital landscape, video content plays a vital role in advertisement generation and product marketing. </a:t>
            </a:r>
            <a:endParaRPr>
              <a:solidFill>
                <a:schemeClr val="dk1"/>
              </a:solidFill>
              <a:latin typeface="Times New Roman"/>
              <a:ea typeface="Times New Roman"/>
              <a:cs typeface="Times New Roman"/>
              <a:sym typeface="Times New Roman"/>
            </a:endParaRPr>
          </a:p>
          <a:p>
            <a:pPr indent="0" lvl="0" marL="457200" rtl="0" algn="just">
              <a:spcBef>
                <a:spcPts val="1600"/>
              </a:spcBef>
              <a:spcAft>
                <a:spcPts val="0"/>
              </a:spcAft>
              <a:buNone/>
            </a:pPr>
            <a:r>
              <a:t/>
            </a:r>
            <a:endParaRPr>
              <a:solidFill>
                <a:schemeClr val="dk1"/>
              </a:solidFill>
              <a:latin typeface="Times New Roman"/>
              <a:ea typeface="Times New Roman"/>
              <a:cs typeface="Times New Roman"/>
              <a:sym typeface="Times New Roman"/>
            </a:endParaRPr>
          </a:p>
          <a:p>
            <a:pPr indent="-325755" lvl="0" marL="457200" rtl="0" algn="just">
              <a:spcBef>
                <a:spcPts val="1600"/>
              </a:spcBef>
              <a:spcAft>
                <a:spcPts val="0"/>
              </a:spcAft>
              <a:buSzPct val="75000"/>
              <a:buFont typeface="Times New Roman"/>
              <a:buChar char="●"/>
            </a:pPr>
            <a:r>
              <a:rPr lang="en-IN">
                <a:solidFill>
                  <a:schemeClr val="dk1"/>
                </a:solidFill>
                <a:latin typeface="Times New Roman"/>
                <a:ea typeface="Times New Roman"/>
                <a:cs typeface="Times New Roman"/>
                <a:sym typeface="Times New Roman"/>
              </a:rPr>
              <a:t>Videos - powerful media for influencing consumer behavior.</a:t>
            </a:r>
            <a:endParaRPr>
              <a:solidFill>
                <a:schemeClr val="dk1"/>
              </a:solidFill>
              <a:latin typeface="Times New Roman"/>
              <a:ea typeface="Times New Roman"/>
              <a:cs typeface="Times New Roman"/>
              <a:sym typeface="Times New Roman"/>
            </a:endParaRPr>
          </a:p>
          <a:p>
            <a:pPr indent="0" lvl="0" marL="457200" rtl="0" algn="just">
              <a:spcBef>
                <a:spcPts val="1600"/>
              </a:spcBef>
              <a:spcAft>
                <a:spcPts val="0"/>
              </a:spcAft>
              <a:buNone/>
            </a:pPr>
            <a:r>
              <a:t/>
            </a:r>
            <a:endParaRPr>
              <a:solidFill>
                <a:schemeClr val="dk1"/>
              </a:solidFill>
              <a:latin typeface="Times New Roman"/>
              <a:ea typeface="Times New Roman"/>
              <a:cs typeface="Times New Roman"/>
              <a:sym typeface="Times New Roman"/>
            </a:endParaRPr>
          </a:p>
          <a:p>
            <a:pPr indent="-325755" lvl="0" marL="457200" rtl="0" algn="just">
              <a:spcBef>
                <a:spcPts val="1600"/>
              </a:spcBef>
              <a:spcAft>
                <a:spcPts val="0"/>
              </a:spcAft>
              <a:buSzPct val="75000"/>
              <a:buFont typeface="Times New Roman"/>
              <a:buChar char="●"/>
            </a:pPr>
            <a:r>
              <a:rPr lang="en-IN">
                <a:solidFill>
                  <a:schemeClr val="dk1"/>
                </a:solidFill>
                <a:latin typeface="Times New Roman"/>
                <a:ea typeface="Times New Roman"/>
                <a:cs typeface="Times New Roman"/>
                <a:sym typeface="Times New Roman"/>
              </a:rPr>
              <a:t>More and more companies are employing </a:t>
            </a:r>
            <a:r>
              <a:rPr b="1" lang="en-IN">
                <a:solidFill>
                  <a:schemeClr val="dk1"/>
                </a:solidFill>
                <a:latin typeface="Times New Roman"/>
                <a:ea typeface="Times New Roman"/>
                <a:cs typeface="Times New Roman"/>
                <a:sym typeface="Times New Roman"/>
              </a:rPr>
              <a:t>GenAI tools</a:t>
            </a:r>
            <a:r>
              <a:rPr lang="en-IN">
                <a:solidFill>
                  <a:schemeClr val="dk1"/>
                </a:solidFill>
                <a:latin typeface="Times New Roman"/>
                <a:ea typeface="Times New Roman"/>
                <a:cs typeface="Times New Roman"/>
                <a:sym typeface="Times New Roman"/>
              </a:rPr>
              <a:t> to develop video content.</a:t>
            </a:r>
            <a:endParaRPr>
              <a:solidFill>
                <a:schemeClr val="dk1"/>
              </a:solidFill>
              <a:latin typeface="Times New Roman"/>
              <a:ea typeface="Times New Roman"/>
              <a:cs typeface="Times New Roman"/>
              <a:sym typeface="Times New Roman"/>
            </a:endParaRPr>
          </a:p>
          <a:p>
            <a:pPr indent="0" lvl="0" marL="457200" rtl="0" algn="just">
              <a:spcBef>
                <a:spcPts val="16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0"/>
              </a:spcAft>
              <a:buClr>
                <a:schemeClr val="dk1"/>
              </a:buClr>
              <a:buSzPct val="42045"/>
              <a:buFont typeface="Arial"/>
              <a:buNone/>
            </a:pPr>
            <a:r>
              <a:rPr b="1" lang="en-IN" sz="2616">
                <a:solidFill>
                  <a:schemeClr val="dk1"/>
                </a:solidFill>
                <a:latin typeface="Times New Roman"/>
                <a:ea typeface="Times New Roman"/>
                <a:cs typeface="Times New Roman"/>
                <a:sym typeface="Times New Roman"/>
              </a:rPr>
              <a:t>Major Findings:</a:t>
            </a:r>
            <a:endParaRPr b="1" sz="2616">
              <a:solidFill>
                <a:schemeClr val="dk1"/>
              </a:solidFill>
              <a:latin typeface="Times New Roman"/>
              <a:ea typeface="Times New Roman"/>
              <a:cs typeface="Times New Roman"/>
              <a:sym typeface="Times New Roman"/>
            </a:endParaRPr>
          </a:p>
          <a:p>
            <a:pPr indent="-359015" lvl="0" marL="457200" rtl="0" algn="l">
              <a:lnSpc>
                <a:spcPct val="115000"/>
              </a:lnSpc>
              <a:spcBef>
                <a:spcPts val="1200"/>
              </a:spcBef>
              <a:spcAft>
                <a:spcPts val="0"/>
              </a:spcAft>
              <a:buSzPct val="100000"/>
              <a:buFont typeface="Times New Roman"/>
              <a:buAutoNum type="arabicPeriod"/>
            </a:pPr>
            <a:r>
              <a:rPr lang="en-IN" sz="2416">
                <a:solidFill>
                  <a:schemeClr val="dk1"/>
                </a:solidFill>
                <a:latin typeface="Times New Roman"/>
                <a:ea typeface="Times New Roman"/>
                <a:cs typeface="Times New Roman"/>
                <a:sym typeface="Times New Roman"/>
              </a:rPr>
              <a:t>Novel Multimodal Pipeline</a:t>
            </a:r>
            <a:endParaRPr sz="2416">
              <a:solidFill>
                <a:schemeClr val="dk1"/>
              </a:solidFill>
              <a:latin typeface="Times New Roman"/>
              <a:ea typeface="Times New Roman"/>
              <a:cs typeface="Times New Roman"/>
              <a:sym typeface="Times New Roman"/>
            </a:endParaRPr>
          </a:p>
          <a:p>
            <a:pPr indent="-359015" lvl="0" marL="457200" rtl="0" algn="l">
              <a:lnSpc>
                <a:spcPct val="115000"/>
              </a:lnSpc>
              <a:spcBef>
                <a:spcPts val="0"/>
              </a:spcBef>
              <a:spcAft>
                <a:spcPts val="0"/>
              </a:spcAft>
              <a:buSzPct val="100000"/>
              <a:buFont typeface="Times New Roman"/>
              <a:buAutoNum type="arabicPeriod"/>
            </a:pPr>
            <a:r>
              <a:rPr lang="en-IN" sz="2416">
                <a:solidFill>
                  <a:schemeClr val="dk1"/>
                </a:solidFill>
                <a:latin typeface="Times New Roman"/>
                <a:ea typeface="Times New Roman"/>
                <a:cs typeface="Times New Roman"/>
                <a:sym typeface="Times New Roman"/>
              </a:rPr>
              <a:t>Effective Capture of Contextual Details</a:t>
            </a:r>
            <a:endParaRPr sz="2416">
              <a:solidFill>
                <a:schemeClr val="dk1"/>
              </a:solidFill>
              <a:latin typeface="Times New Roman"/>
              <a:ea typeface="Times New Roman"/>
              <a:cs typeface="Times New Roman"/>
              <a:sym typeface="Times New Roman"/>
            </a:endParaRPr>
          </a:p>
          <a:p>
            <a:pPr indent="-359015" lvl="0" marL="457200" rtl="0" algn="l">
              <a:lnSpc>
                <a:spcPct val="115000"/>
              </a:lnSpc>
              <a:spcBef>
                <a:spcPts val="0"/>
              </a:spcBef>
              <a:spcAft>
                <a:spcPts val="0"/>
              </a:spcAft>
              <a:buSzPct val="100000"/>
              <a:buFont typeface="Times New Roman"/>
              <a:buAutoNum type="arabicPeriod"/>
            </a:pPr>
            <a:r>
              <a:rPr lang="en-IN" sz="2416">
                <a:solidFill>
                  <a:schemeClr val="dk1"/>
                </a:solidFill>
                <a:latin typeface="Times New Roman"/>
                <a:ea typeface="Times New Roman"/>
                <a:cs typeface="Times New Roman"/>
                <a:sym typeface="Times New Roman"/>
              </a:rPr>
              <a:t>New AD Dataset Contribution</a:t>
            </a:r>
            <a:endParaRPr sz="3716">
              <a:latin typeface="Times New Roman"/>
              <a:ea typeface="Times New Roman"/>
              <a:cs typeface="Times New Roman"/>
              <a:sym typeface="Times New Roman"/>
            </a:endParaRPr>
          </a:p>
          <a:p>
            <a:pPr indent="0" lvl="0" marL="0" rtl="0" algn="just">
              <a:spcBef>
                <a:spcPts val="1200"/>
              </a:spcBef>
              <a:spcAft>
                <a:spcPts val="1600"/>
              </a:spcAft>
              <a:buNone/>
            </a:pPr>
            <a:r>
              <a:t/>
            </a:r>
            <a:endParaRPr b="1">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sz="3000">
                <a:latin typeface="Times New Roman"/>
                <a:ea typeface="Times New Roman"/>
                <a:cs typeface="Times New Roman"/>
                <a:sym typeface="Times New Roman"/>
              </a:rPr>
              <a:t>Research Gap</a:t>
            </a:r>
            <a:endParaRPr sz="3000">
              <a:latin typeface="Times New Roman"/>
              <a:ea typeface="Times New Roman"/>
              <a:cs typeface="Times New Roman"/>
              <a:sym typeface="Times New Roman"/>
            </a:endParaRPr>
          </a:p>
        </p:txBody>
      </p:sp>
      <p:sp>
        <p:nvSpPr>
          <p:cNvPr id="87" name="Google Shape;87;p17"/>
          <p:cNvSpPr txBox="1"/>
          <p:nvPr>
            <p:ph idx="1" type="body"/>
          </p:nvPr>
        </p:nvSpPr>
        <p:spPr>
          <a:xfrm>
            <a:off x="720775" y="1487350"/>
            <a:ext cx="10515600" cy="4869000"/>
          </a:xfrm>
          <a:prstGeom prst="rect">
            <a:avLst/>
          </a:prstGeom>
        </p:spPr>
        <p:txBody>
          <a:bodyPr anchorCtr="0" anchor="t" bIns="45700" lIns="91425" spcFirstLastPara="1" rIns="91425" wrap="square" tIns="45700">
            <a:noAutofit/>
          </a:bodyPr>
          <a:lstStyle/>
          <a:p>
            <a:pPr indent="-349364" lvl="0" marL="457200" rtl="0" algn="l">
              <a:lnSpc>
                <a:spcPct val="150000"/>
              </a:lnSpc>
              <a:spcBef>
                <a:spcPts val="1000"/>
              </a:spcBef>
              <a:spcAft>
                <a:spcPts val="0"/>
              </a:spcAft>
              <a:buSzPts val="1902"/>
              <a:buFont typeface="Times New Roman"/>
              <a:buChar char="●"/>
            </a:pPr>
            <a:r>
              <a:rPr lang="en-IN" sz="2186">
                <a:solidFill>
                  <a:schemeClr val="dk1"/>
                </a:solidFill>
                <a:latin typeface="Times New Roman"/>
                <a:ea typeface="Times New Roman"/>
                <a:cs typeface="Times New Roman"/>
                <a:sym typeface="Times New Roman"/>
              </a:rPr>
              <a:t>S</a:t>
            </a:r>
            <a:r>
              <a:rPr lang="en-IN" sz="2186">
                <a:solidFill>
                  <a:schemeClr val="dk1"/>
                </a:solidFill>
                <a:latin typeface="Times New Roman"/>
                <a:ea typeface="Times New Roman"/>
                <a:cs typeface="Times New Roman"/>
                <a:sym typeface="Times New Roman"/>
              </a:rPr>
              <a:t>everal notable challenges for video datasets compared to image datasets. </a:t>
            </a:r>
            <a:endParaRPr sz="2186">
              <a:solidFill>
                <a:schemeClr val="dk1"/>
              </a:solidFill>
              <a:latin typeface="Times New Roman"/>
              <a:ea typeface="Times New Roman"/>
              <a:cs typeface="Times New Roman"/>
              <a:sym typeface="Times New Roman"/>
            </a:endParaRPr>
          </a:p>
          <a:p>
            <a:pPr indent="-349364" lvl="0" marL="457200" rtl="0" algn="l">
              <a:lnSpc>
                <a:spcPct val="150000"/>
              </a:lnSpc>
              <a:spcBef>
                <a:spcPts val="0"/>
              </a:spcBef>
              <a:spcAft>
                <a:spcPts val="0"/>
              </a:spcAft>
              <a:buSzPts val="1902"/>
              <a:buFont typeface="Times New Roman"/>
              <a:buChar char="●"/>
            </a:pPr>
            <a:r>
              <a:rPr lang="en-IN" sz="2186">
                <a:solidFill>
                  <a:schemeClr val="dk1"/>
                </a:solidFill>
                <a:latin typeface="Times New Roman"/>
                <a:ea typeface="Times New Roman"/>
                <a:cs typeface="Times New Roman"/>
                <a:sym typeface="Times New Roman"/>
              </a:rPr>
              <a:t>Higher costs and complexities associated with video collection.</a:t>
            </a:r>
            <a:endParaRPr sz="2186">
              <a:solidFill>
                <a:schemeClr val="dk1"/>
              </a:solidFill>
              <a:latin typeface="Times New Roman"/>
              <a:ea typeface="Times New Roman"/>
              <a:cs typeface="Times New Roman"/>
              <a:sym typeface="Times New Roman"/>
            </a:endParaRPr>
          </a:p>
          <a:p>
            <a:pPr indent="-349364" lvl="0" marL="457200" rtl="0" algn="l">
              <a:lnSpc>
                <a:spcPct val="150000"/>
              </a:lnSpc>
              <a:spcBef>
                <a:spcPts val="0"/>
              </a:spcBef>
              <a:spcAft>
                <a:spcPts val="0"/>
              </a:spcAft>
              <a:buSzPts val="1902"/>
              <a:buFont typeface="Times New Roman"/>
              <a:buChar char="●"/>
            </a:pPr>
            <a:r>
              <a:rPr lang="en-IN" sz="2186">
                <a:solidFill>
                  <a:schemeClr val="dk1"/>
                </a:solidFill>
                <a:latin typeface="Times New Roman"/>
                <a:ea typeface="Times New Roman"/>
                <a:cs typeface="Times New Roman"/>
                <a:sym typeface="Times New Roman"/>
              </a:rPr>
              <a:t>Current datasets often feature simple, short text captions that fail to encapsulate the details in visual information.</a:t>
            </a:r>
            <a:endParaRPr sz="2186">
              <a:solidFill>
                <a:schemeClr val="dk1"/>
              </a:solidFill>
              <a:latin typeface="Times New Roman"/>
              <a:ea typeface="Times New Roman"/>
              <a:cs typeface="Times New Roman"/>
              <a:sym typeface="Times New Roman"/>
            </a:endParaRPr>
          </a:p>
          <a:p>
            <a:pPr indent="-349364" lvl="0" marL="457200" rtl="0" algn="l">
              <a:lnSpc>
                <a:spcPct val="150000"/>
              </a:lnSpc>
              <a:spcBef>
                <a:spcPts val="0"/>
              </a:spcBef>
              <a:spcAft>
                <a:spcPts val="0"/>
              </a:spcAft>
              <a:buSzPts val="1902"/>
              <a:buFont typeface="Times New Roman"/>
              <a:buChar char="●"/>
            </a:pPr>
            <a:r>
              <a:rPr lang="en-IN" sz="2186">
                <a:solidFill>
                  <a:schemeClr val="dk1"/>
                </a:solidFill>
                <a:latin typeface="Times New Roman"/>
                <a:ea typeface="Times New Roman"/>
                <a:cs typeface="Times New Roman"/>
                <a:sym typeface="Times New Roman"/>
              </a:rPr>
              <a:t>Lack of video processing datasets that cater to Automated Advertisement generation. </a:t>
            </a:r>
            <a:endParaRPr sz="2186">
              <a:solidFill>
                <a:schemeClr val="dk1"/>
              </a:solidFill>
              <a:latin typeface="Times New Roman"/>
              <a:ea typeface="Times New Roman"/>
              <a:cs typeface="Times New Roman"/>
              <a:sym typeface="Times New Roman"/>
            </a:endParaRPr>
          </a:p>
          <a:p>
            <a:pPr indent="0" lvl="0" marL="0" rtl="0" algn="l">
              <a:lnSpc>
                <a:spcPct val="80000"/>
              </a:lnSpc>
              <a:spcBef>
                <a:spcPts val="1600"/>
              </a:spcBef>
              <a:spcAft>
                <a:spcPts val="0"/>
              </a:spcAft>
              <a:buSzPts val="523"/>
              <a:buNone/>
            </a:pPr>
            <a:r>
              <a:t/>
            </a:r>
            <a:endParaRPr sz="1540">
              <a:latin typeface="Times New Roman"/>
              <a:ea typeface="Times New Roman"/>
              <a:cs typeface="Times New Roman"/>
              <a:sym typeface="Times New Roman"/>
            </a:endParaRPr>
          </a:p>
          <a:p>
            <a:pPr indent="0" lvl="0" marL="0" rtl="0" algn="l">
              <a:lnSpc>
                <a:spcPct val="80000"/>
              </a:lnSpc>
              <a:spcBef>
                <a:spcPts val="1600"/>
              </a:spcBef>
              <a:spcAft>
                <a:spcPts val="0"/>
              </a:spcAft>
              <a:buClr>
                <a:schemeClr val="dk1"/>
              </a:buClr>
              <a:buSzPts val="523"/>
              <a:buFont typeface="Arial"/>
              <a:buNone/>
            </a:pPr>
            <a:r>
              <a:t/>
            </a:r>
            <a:endParaRPr sz="1540">
              <a:latin typeface="Times New Roman"/>
              <a:ea typeface="Times New Roman"/>
              <a:cs typeface="Times New Roman"/>
              <a:sym typeface="Times New Roman"/>
            </a:endParaRPr>
          </a:p>
          <a:p>
            <a:pPr indent="0" lvl="0" marL="0" rtl="0" algn="l">
              <a:lnSpc>
                <a:spcPct val="80000"/>
              </a:lnSpc>
              <a:spcBef>
                <a:spcPts val="1600"/>
              </a:spcBef>
              <a:spcAft>
                <a:spcPts val="1600"/>
              </a:spcAft>
              <a:buSzPts val="523"/>
              <a:buNone/>
            </a:pPr>
            <a:r>
              <a:t/>
            </a:r>
            <a:endParaRPr sz="1540">
              <a:latin typeface="Times New Roman"/>
              <a:ea typeface="Times New Roman"/>
              <a:cs typeface="Times New Roman"/>
              <a:sym typeface="Times New Roman"/>
            </a:endParaRPr>
          </a:p>
        </p:txBody>
      </p:sp>
      <p:sp>
        <p:nvSpPr>
          <p:cNvPr id="88" name="Google Shape;88;p17"/>
          <p:cNvSpPr txBox="1"/>
          <p:nvPr>
            <p:ph idx="12" type="sldNum"/>
          </p:nvPr>
        </p:nvSpPr>
        <p:spPr>
          <a:xfrm>
            <a:off x="8610600" y="6356350"/>
            <a:ext cx="27432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89850" y="5010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a:latin typeface="Times New Roman"/>
                <a:ea typeface="Times New Roman"/>
                <a:cs typeface="Times New Roman"/>
                <a:sym typeface="Times New Roman"/>
              </a:rPr>
              <a:t>Related Works</a:t>
            </a:r>
            <a:endParaRPr>
              <a:latin typeface="Times New Roman"/>
              <a:ea typeface="Times New Roman"/>
              <a:cs typeface="Times New Roman"/>
              <a:sym typeface="Times New Roman"/>
            </a:endParaRPr>
          </a:p>
        </p:txBody>
      </p:sp>
      <p:sp>
        <p:nvSpPr>
          <p:cNvPr id="95" name="Google Shape;95;p18"/>
          <p:cNvSpPr txBox="1"/>
          <p:nvPr>
            <p:ph idx="12" type="sldNum"/>
          </p:nvPr>
        </p:nvSpPr>
        <p:spPr>
          <a:xfrm>
            <a:off x="8610600" y="6356350"/>
            <a:ext cx="27432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graphicFrame>
        <p:nvGraphicFramePr>
          <p:cNvPr id="96" name="Google Shape;96;p18"/>
          <p:cNvGraphicFramePr/>
          <p:nvPr/>
        </p:nvGraphicFramePr>
        <p:xfrm>
          <a:off x="304800" y="304800"/>
          <a:ext cx="3000000" cy="3000000"/>
        </p:xfrm>
        <a:graphic>
          <a:graphicData uri="http://schemas.openxmlformats.org/drawingml/2006/table">
            <a:tbl>
              <a:tblPr>
                <a:noFill/>
                <a:tableStyleId>{375DF0A8-229D-4ABE-876B-BE1B0E2D003B}</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97" name="Google Shape;97;p18"/>
          <p:cNvGraphicFramePr/>
          <p:nvPr/>
        </p:nvGraphicFramePr>
        <p:xfrm>
          <a:off x="504225" y="1240200"/>
          <a:ext cx="3000000" cy="3000000"/>
        </p:xfrm>
        <a:graphic>
          <a:graphicData uri="http://schemas.openxmlformats.org/drawingml/2006/table">
            <a:tbl>
              <a:tblPr>
                <a:noFill/>
                <a:tableStyleId>{BEFB0E77-3F56-45D8-8FC8-37B1A7696D6C}</a:tableStyleId>
              </a:tblPr>
              <a:tblGrid>
                <a:gridCol w="2258200"/>
                <a:gridCol w="2258200"/>
                <a:gridCol w="2258200"/>
                <a:gridCol w="2258200"/>
                <a:gridCol w="2258200"/>
              </a:tblGrid>
              <a:tr h="603000">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Dataset</a:t>
                      </a:r>
                      <a:endParaRPr b="1">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Description</a:t>
                      </a:r>
                      <a:endParaRPr b="1">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Size</a:t>
                      </a:r>
                      <a:endParaRPr b="1">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Notable Features</a:t>
                      </a:r>
                      <a:endParaRPr b="1">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a:latin typeface="Times New Roman"/>
                          <a:ea typeface="Times New Roman"/>
                          <a:cs typeface="Times New Roman"/>
                          <a:sym typeface="Times New Roman"/>
                        </a:rPr>
                        <a:t>Limitations</a:t>
                      </a:r>
                      <a:endParaRPr b="1">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03000">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UCF-101</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Videos of human actions in multiple categories.</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13,000 videos, 101 categories</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Benchmark for human action recognition</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Limited to human actions</a:t>
                      </a:r>
                      <a:endParaRPr>
                        <a:latin typeface="Times New Roman"/>
                        <a:ea typeface="Times New Roman"/>
                        <a:cs typeface="Times New Roman"/>
                        <a:sym typeface="Times New Roman"/>
                      </a:endParaRPr>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856200">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HowTo100M</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Instructional videos covering various activities.</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136M clips, 23,000 activities, 1.2M videos</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Large-scale instructional video dataset</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Focused on instructional content</a:t>
                      </a:r>
                      <a:endParaRPr>
                        <a:latin typeface="Times New Roman"/>
                        <a:ea typeface="Times New Roman"/>
                        <a:cs typeface="Times New Roman"/>
                        <a:sym typeface="Times New Roman"/>
                      </a:endParaRPr>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856200">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MSR-VTT</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Web video clips with paired textual descriptions.</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10,000 videos, 200,000 clip-sentence pairs</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Benchmark for video-to-text generation</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Limited contextual understanding</a:t>
                      </a:r>
                      <a:endParaRPr>
                        <a:latin typeface="Times New Roman"/>
                        <a:ea typeface="Times New Roman"/>
                        <a:cs typeface="Times New Roman"/>
                        <a:sym typeface="Times New Roman"/>
                      </a:endParaRPr>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03000">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HD-VILA-100M</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High-resolution, diverse video-language dataset.</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3.3M videos, 100M sentences, 15 categories</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High-quality, multimodal data for various tasks</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Not specific to video ads</a:t>
                      </a:r>
                      <a:endParaRPr>
                        <a:latin typeface="Times New Roman"/>
                        <a:ea typeface="Times New Roman"/>
                        <a:cs typeface="Times New Roman"/>
                        <a:sym typeface="Times New Roman"/>
                      </a:endParaRPr>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856200">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Ad Video Dataset</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Curated TV ad dataset with metadata.</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14,490 video clips (2006-2016, Japan)</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Rich metadata (ad categories, broadcasting, etc.)</a:t>
                      </a:r>
                      <a:endParaRPr>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a:latin typeface="Times New Roman"/>
                          <a:ea typeface="Times New Roman"/>
                          <a:cs typeface="Times New Roman"/>
                          <a:sym typeface="Times New Roman"/>
                        </a:rPr>
                        <a:t>Lacks multimodal integration for video creation</a:t>
                      </a:r>
                      <a:endParaRPr>
                        <a:latin typeface="Times New Roman"/>
                        <a:ea typeface="Times New Roman"/>
                        <a:cs typeface="Times New Roman"/>
                        <a:sym typeface="Times New Roman"/>
                      </a:endParaRPr>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0" lang="en-IN">
                <a:latin typeface="Times New Roman"/>
                <a:ea typeface="Times New Roman"/>
                <a:cs typeface="Times New Roman"/>
                <a:sym typeface="Times New Roman"/>
              </a:rPr>
              <a:t>Related Works</a:t>
            </a:r>
            <a:endParaRPr b="0">
              <a:latin typeface="Times New Roman"/>
              <a:ea typeface="Times New Roman"/>
              <a:cs typeface="Times New Roman"/>
              <a:sym typeface="Times New Roman"/>
            </a:endParaRPr>
          </a:p>
        </p:txBody>
      </p:sp>
      <p:sp>
        <p:nvSpPr>
          <p:cNvPr id="104" name="Google Shape;104;p19"/>
          <p:cNvSpPr txBox="1"/>
          <p:nvPr>
            <p:ph idx="12" type="sldNum"/>
          </p:nvPr>
        </p:nvSpPr>
        <p:spPr>
          <a:xfrm>
            <a:off x="8610600" y="6356350"/>
            <a:ext cx="27432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graphicFrame>
        <p:nvGraphicFramePr>
          <p:cNvPr id="105" name="Google Shape;105;p19"/>
          <p:cNvGraphicFramePr/>
          <p:nvPr/>
        </p:nvGraphicFramePr>
        <p:xfrm>
          <a:off x="952500" y="1690825"/>
          <a:ext cx="3000000" cy="3000000"/>
        </p:xfrm>
        <a:graphic>
          <a:graphicData uri="http://schemas.openxmlformats.org/drawingml/2006/table">
            <a:tbl>
              <a:tblPr>
                <a:noFill/>
                <a:tableStyleId>{BEFB0E77-3F56-45D8-8FC8-37B1A7696D6C}</a:tableStyleId>
              </a:tblPr>
              <a:tblGrid>
                <a:gridCol w="2520850"/>
                <a:gridCol w="2520850"/>
                <a:gridCol w="2520850"/>
                <a:gridCol w="2520850"/>
              </a:tblGrid>
              <a:tr h="453825">
                <a:tc>
                  <a:txBody>
                    <a:bodyPr/>
                    <a:lstStyle/>
                    <a:p>
                      <a:pPr indent="0" lvl="0" marL="0" rtl="0" algn="ctr">
                        <a:lnSpc>
                          <a:spcPct val="115000"/>
                        </a:lnSpc>
                        <a:spcBef>
                          <a:spcPts val="0"/>
                        </a:spcBef>
                        <a:spcAft>
                          <a:spcPts val="0"/>
                        </a:spcAft>
                        <a:buNone/>
                      </a:pPr>
                      <a:r>
                        <a:rPr b="1" lang="en-IN" sz="1200"/>
                        <a:t>Framework</a:t>
                      </a:r>
                      <a:endParaRPr b="1" sz="12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200"/>
                        <a:t>Key Innovations</a:t>
                      </a:r>
                      <a:endParaRPr b="1" sz="12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200"/>
                        <a:t>Techniques Used</a:t>
                      </a:r>
                      <a:endParaRPr b="1" sz="12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200"/>
                        <a:t>Limitations</a:t>
                      </a:r>
                      <a:endParaRPr b="1" sz="12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44425">
                <a:tc>
                  <a:txBody>
                    <a:bodyPr/>
                    <a:lstStyle/>
                    <a:p>
                      <a:pPr indent="0" lvl="0" marL="0" rtl="0" algn="l">
                        <a:lnSpc>
                          <a:spcPct val="115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Multimodal Video-Captioning Model</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Integrates audio, external knowledge, and attention mechanisms to improve captioning.</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Audio, external knowledge, attention mechanisms</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Dependency on high-quality external knowledge for effectiveness</a:t>
                      </a:r>
                      <a:endParaRPr sz="1200">
                        <a:latin typeface="Times New Roman"/>
                        <a:ea typeface="Times New Roman"/>
                        <a:cs typeface="Times New Roman"/>
                        <a:sym typeface="Times New Roman"/>
                      </a:endParaRPr>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44425">
                <a:tc>
                  <a:txBody>
                    <a:bodyPr/>
                    <a:lstStyle/>
                    <a:p>
                      <a:pPr indent="0" lvl="0" marL="0" rtl="0" algn="l">
                        <a:lnSpc>
                          <a:spcPct val="115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Stacked Multimodal Attention Network</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Incorporates visual and textual historical information for context-based captioning.</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Multimodal attention, visual/textual context</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Limited scalability to longer video durations</a:t>
                      </a:r>
                      <a:endParaRPr sz="1200">
                        <a:latin typeface="Times New Roman"/>
                        <a:ea typeface="Times New Roman"/>
                        <a:cs typeface="Times New Roman"/>
                        <a:sym typeface="Times New Roman"/>
                      </a:endParaRPr>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44425">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Reinforcement Learning-based Captioning</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Uses reinforcement learning to prioritize and refine information during captioning.</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Reinforcement learning, content prioritization</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Can be computationally intensive</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853200">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DWT-CNN with Multimodal Attention</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Leverages Discrete Wavelet Transform-based CNN for capturing spatial, spectral, and semantic details.</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Wavelet CNN, global/contextual/temporal attention</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High model complexity, requires more computation</a:t>
                      </a:r>
                      <a:endParaRPr sz="1200">
                        <a:latin typeface="Times New Roman"/>
                        <a:ea typeface="Times New Roman"/>
                        <a:cs typeface="Times New Roman"/>
                        <a:sym typeface="Times New Roman"/>
                      </a:endParaRPr>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853200">
                <a:tc>
                  <a:txBody>
                    <a:bodyPr/>
                    <a:lstStyle/>
                    <a:p>
                      <a:pPr indent="0" lvl="0" marL="0" rtl="0" algn="l">
                        <a:lnSpc>
                          <a:spcPct val="115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MR-VPC (Missing Resistant-VPC)</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Integrates video, speech, and event boundaries; uses DropAM and DistillAM for missing modality scenarios.</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DropAM, DistillAM, video/speech/event boundaries</a:t>
                      </a:r>
                      <a:endParaRPr sz="1200">
                        <a:latin typeface="Times New Roman"/>
                        <a:ea typeface="Times New Roman"/>
                        <a:cs typeface="Times New Roman"/>
                        <a:sym typeface="Times New Roman"/>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IN" sz="1200">
                          <a:latin typeface="Times New Roman"/>
                          <a:ea typeface="Times New Roman"/>
                          <a:cs typeface="Times New Roman"/>
                          <a:sym typeface="Times New Roman"/>
                        </a:rPr>
                        <a:t>May require more complex training for missing data scenarios</a:t>
                      </a:r>
                      <a:endParaRPr sz="1200">
                        <a:latin typeface="Times New Roman"/>
                        <a:ea typeface="Times New Roman"/>
                        <a:cs typeface="Times New Roman"/>
                        <a:sym typeface="Times New Roman"/>
                      </a:endParaRPr>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602888" y="33890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sz="3000">
                <a:latin typeface="Times New Roman"/>
                <a:ea typeface="Times New Roman"/>
                <a:cs typeface="Times New Roman"/>
                <a:sym typeface="Times New Roman"/>
              </a:rPr>
              <a:t>PROPOSED CAPTIONING METHODOLOGY</a:t>
            </a:r>
            <a:endParaRPr sz="3000">
              <a:latin typeface="Times New Roman"/>
              <a:ea typeface="Times New Roman"/>
              <a:cs typeface="Times New Roman"/>
              <a:sym typeface="Times New Roman"/>
            </a:endParaRPr>
          </a:p>
        </p:txBody>
      </p:sp>
      <p:sp>
        <p:nvSpPr>
          <p:cNvPr id="112" name="Google Shape;112;p20"/>
          <p:cNvSpPr txBox="1"/>
          <p:nvPr>
            <p:ph idx="12" type="sldNum"/>
          </p:nvPr>
        </p:nvSpPr>
        <p:spPr>
          <a:xfrm>
            <a:off x="8610600" y="6356350"/>
            <a:ext cx="27432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13" name="Google Shape;113;p20"/>
          <p:cNvSpPr txBox="1"/>
          <p:nvPr/>
        </p:nvSpPr>
        <p:spPr>
          <a:xfrm>
            <a:off x="3589950" y="5741300"/>
            <a:ext cx="5012100" cy="3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200">
                <a:solidFill>
                  <a:schemeClr val="dk1"/>
                </a:solidFill>
                <a:latin typeface="Times New Roman"/>
                <a:ea typeface="Times New Roman"/>
                <a:cs typeface="Times New Roman"/>
                <a:sym typeface="Times New Roman"/>
              </a:rPr>
              <a:t>Figure Dataset Creation Pipeline</a:t>
            </a:r>
            <a:endParaRPr sz="2200">
              <a:solidFill>
                <a:schemeClr val="dk1"/>
              </a:solidFill>
              <a:latin typeface="Times New Roman"/>
              <a:ea typeface="Times New Roman"/>
              <a:cs typeface="Times New Roman"/>
              <a:sym typeface="Times New Roman"/>
            </a:endParaRPr>
          </a:p>
        </p:txBody>
      </p:sp>
      <p:pic>
        <p:nvPicPr>
          <p:cNvPr id="114" name="Google Shape;114;p20"/>
          <p:cNvPicPr preferRelativeResize="0"/>
          <p:nvPr/>
        </p:nvPicPr>
        <p:blipFill>
          <a:blip r:embed="rId3">
            <a:alphaModFix/>
          </a:blip>
          <a:stretch>
            <a:fillRect/>
          </a:stretch>
        </p:blipFill>
        <p:spPr>
          <a:xfrm>
            <a:off x="355250" y="1664600"/>
            <a:ext cx="11010900" cy="4076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20" name="Google Shape;120;p21"/>
          <p:cNvSpPr txBox="1"/>
          <p:nvPr/>
        </p:nvSpPr>
        <p:spPr>
          <a:xfrm>
            <a:off x="854050" y="745750"/>
            <a:ext cx="7016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3000">
                <a:solidFill>
                  <a:schemeClr val="dk2"/>
                </a:solidFill>
                <a:latin typeface="Times New Roman"/>
                <a:ea typeface="Times New Roman"/>
                <a:cs typeface="Times New Roman"/>
                <a:sym typeface="Times New Roman"/>
              </a:rPr>
              <a:t>PROPOSED ADGEN DATASET</a:t>
            </a:r>
            <a:endParaRPr sz="3000">
              <a:solidFill>
                <a:schemeClr val="dk2"/>
              </a:solidFill>
              <a:latin typeface="Times New Roman"/>
              <a:ea typeface="Times New Roman"/>
              <a:cs typeface="Times New Roman"/>
              <a:sym typeface="Times New Roman"/>
            </a:endParaRPr>
          </a:p>
        </p:txBody>
      </p:sp>
      <p:sp>
        <p:nvSpPr>
          <p:cNvPr id="121" name="Google Shape;121;p21"/>
          <p:cNvSpPr txBox="1"/>
          <p:nvPr/>
        </p:nvSpPr>
        <p:spPr>
          <a:xfrm>
            <a:off x="510375" y="1832675"/>
            <a:ext cx="10990200" cy="43641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Clr>
                <a:schemeClr val="dk1"/>
              </a:buClr>
              <a:buSzPts val="2400"/>
              <a:buFont typeface="Times New Roman"/>
              <a:buChar char="●"/>
            </a:pPr>
            <a:r>
              <a:rPr lang="en-IN" sz="2400">
                <a:solidFill>
                  <a:schemeClr val="dk1"/>
                </a:solidFill>
                <a:latin typeface="Times New Roman"/>
                <a:ea typeface="Times New Roman"/>
                <a:cs typeface="Times New Roman"/>
                <a:sym typeface="Times New Roman"/>
              </a:rPr>
              <a:t>The proposed dataset comprises 720 videos sourced from the Youtube-8M dataset, which was extensively processed through the presented pipeline.</a:t>
            </a:r>
            <a:endParaRPr sz="24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IN" sz="2400">
                <a:solidFill>
                  <a:schemeClr val="dk1"/>
                </a:solidFill>
                <a:latin typeface="Times New Roman"/>
                <a:ea typeface="Times New Roman"/>
                <a:cs typeface="Times New Roman"/>
                <a:sym typeface="Times New Roman"/>
              </a:rPr>
              <a:t>The total duration of the </a:t>
            </a:r>
            <a:r>
              <a:rPr lang="en-IN" sz="2400">
                <a:solidFill>
                  <a:schemeClr val="dk1"/>
                </a:solidFill>
                <a:latin typeface="Times New Roman"/>
                <a:ea typeface="Times New Roman"/>
                <a:cs typeface="Times New Roman"/>
                <a:sym typeface="Times New Roman"/>
              </a:rPr>
              <a:t>dataset is approximately 24 hours.</a:t>
            </a:r>
            <a:endParaRPr sz="24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IN" sz="2400">
                <a:solidFill>
                  <a:schemeClr val="dk1"/>
                </a:solidFill>
                <a:latin typeface="Times New Roman"/>
                <a:ea typeface="Times New Roman"/>
                <a:cs typeface="Times New Roman"/>
                <a:sym typeface="Times New Roman"/>
              </a:rPr>
              <a:t>Each video is accompanied by its corresponding text captions and images, rendering it a rich multimodal resource for advertisement video generation and related tasks.</a:t>
            </a:r>
            <a:endParaRPr sz="24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n-IN" sz="3000">
                <a:solidFill>
                  <a:schemeClr val="dk2"/>
                </a:solidFill>
                <a:latin typeface="Times New Roman"/>
                <a:ea typeface="Times New Roman"/>
                <a:cs typeface="Times New Roman"/>
                <a:sym typeface="Times New Roman"/>
              </a:rPr>
              <a:t>PROPOSED ADGEN DATASET</a:t>
            </a:r>
            <a:endParaRPr/>
          </a:p>
        </p:txBody>
      </p:sp>
      <p:sp>
        <p:nvSpPr>
          <p:cNvPr id="128" name="Google Shape;128;p22"/>
          <p:cNvSpPr txBox="1"/>
          <p:nvPr>
            <p:ph idx="12" type="sldNum"/>
          </p:nvPr>
        </p:nvSpPr>
        <p:spPr>
          <a:xfrm>
            <a:off x="8610600" y="6356350"/>
            <a:ext cx="27432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IN"/>
              <a:t>‹#›</a:t>
            </a:fld>
            <a:endParaRPr/>
          </a:p>
        </p:txBody>
      </p:sp>
      <p:pic>
        <p:nvPicPr>
          <p:cNvPr id="129" name="Google Shape;129;p22"/>
          <p:cNvPicPr preferRelativeResize="0"/>
          <p:nvPr/>
        </p:nvPicPr>
        <p:blipFill>
          <a:blip r:embed="rId3">
            <a:alphaModFix/>
          </a:blip>
          <a:stretch>
            <a:fillRect/>
          </a:stretch>
        </p:blipFill>
        <p:spPr>
          <a:xfrm>
            <a:off x="838200" y="1690825"/>
            <a:ext cx="8646399" cy="3634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idx="12" type="sldNum"/>
          </p:nvPr>
        </p:nvSpPr>
        <p:spPr>
          <a:xfrm>
            <a:off x="8610600" y="6356350"/>
            <a:ext cx="27432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pic>
        <p:nvPicPr>
          <p:cNvPr id="136" name="Google Shape;136;p23"/>
          <p:cNvPicPr preferRelativeResize="0"/>
          <p:nvPr/>
        </p:nvPicPr>
        <p:blipFill>
          <a:blip r:embed="rId3">
            <a:alphaModFix/>
          </a:blip>
          <a:stretch>
            <a:fillRect/>
          </a:stretch>
        </p:blipFill>
        <p:spPr>
          <a:xfrm>
            <a:off x="992000" y="272125"/>
            <a:ext cx="8254999" cy="5049175"/>
          </a:xfrm>
          <a:prstGeom prst="rect">
            <a:avLst/>
          </a:prstGeom>
          <a:noFill/>
          <a:ln>
            <a:noFill/>
          </a:ln>
        </p:spPr>
      </p:pic>
      <p:sp>
        <p:nvSpPr>
          <p:cNvPr id="137" name="Google Shape;137;p23"/>
          <p:cNvSpPr txBox="1"/>
          <p:nvPr/>
        </p:nvSpPr>
        <p:spPr>
          <a:xfrm>
            <a:off x="1119000" y="5321300"/>
            <a:ext cx="9741000" cy="1391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IN">
                <a:latin typeface="Times New Roman"/>
                <a:ea typeface="Times New Roman"/>
                <a:cs typeface="Times New Roman"/>
                <a:sym typeface="Times New Roman"/>
              </a:rPr>
              <a:t>The figure shows image samples from the multimodal advertisement generation dataset and the corresponding text captions generated using the video-to-text pipeline. It can be seen that the text captions include the backdrop of the scene such as “toys in a cozy room,” “scenario with Star Trek Action Figures,” while the actions such as “discusses the high cost,” “interacting with the crew,” “couple interacts with toys” are observed in the language of the text captions. Additionally, product taglines that are vital for an ad are captured such as “Das Auto” and emphasize the personalities, and places in the scene.</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000">
                <a:latin typeface="Times New Roman"/>
                <a:ea typeface="Times New Roman"/>
                <a:cs typeface="Times New Roman"/>
                <a:sym typeface="Times New Roman"/>
              </a:rPr>
              <a:t>RESULT DISCUSSION</a:t>
            </a:r>
            <a:endParaRPr sz="3000">
              <a:latin typeface="Times New Roman"/>
              <a:ea typeface="Times New Roman"/>
              <a:cs typeface="Times New Roman"/>
              <a:sym typeface="Times New Roman"/>
            </a:endParaRPr>
          </a:p>
        </p:txBody>
      </p:sp>
      <p:sp>
        <p:nvSpPr>
          <p:cNvPr id="143" name="Google Shape;14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44" name="Google Shape;144;p24"/>
          <p:cNvSpPr txBox="1"/>
          <p:nvPr/>
        </p:nvSpPr>
        <p:spPr>
          <a:xfrm>
            <a:off x="838200" y="1426775"/>
            <a:ext cx="11657100" cy="52947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chemeClr val="dk2"/>
              </a:buClr>
              <a:buSzPts val="2400"/>
              <a:buFont typeface="Times New Roman"/>
              <a:buAutoNum type="arabicPeriod"/>
            </a:pPr>
            <a:r>
              <a:rPr b="1" lang="en-IN" sz="2400">
                <a:solidFill>
                  <a:schemeClr val="dk2"/>
                </a:solidFill>
                <a:latin typeface="Times New Roman"/>
                <a:ea typeface="Times New Roman"/>
                <a:cs typeface="Times New Roman"/>
                <a:sym typeface="Times New Roman"/>
              </a:rPr>
              <a:t>Quantitative Evaluation</a:t>
            </a:r>
            <a:endParaRPr b="1" sz="24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IN" sz="2400">
                <a:solidFill>
                  <a:schemeClr val="dk2"/>
                </a:solidFill>
                <a:latin typeface="Times New Roman"/>
                <a:ea typeface="Times New Roman"/>
                <a:cs typeface="Times New Roman"/>
                <a:sym typeface="Times New Roman"/>
              </a:rPr>
              <a:t>In video captioning, evaluating the quality of generated captions against human-written reference captions were crucial. Thus, six popular metrics were utilized for this purpose.</a:t>
            </a:r>
            <a:endParaRPr sz="24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4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2"/>
              </a:solidFill>
              <a:latin typeface="Times New Roman"/>
              <a:ea typeface="Times New Roman"/>
              <a:cs typeface="Times New Roman"/>
              <a:sym typeface="Times New Roman"/>
            </a:endParaRPr>
          </a:p>
        </p:txBody>
      </p:sp>
      <p:pic>
        <p:nvPicPr>
          <p:cNvPr id="145" name="Google Shape;145;p24"/>
          <p:cNvPicPr preferRelativeResize="0"/>
          <p:nvPr/>
        </p:nvPicPr>
        <p:blipFill>
          <a:blip r:embed="rId3">
            <a:alphaModFix/>
          </a:blip>
          <a:stretch>
            <a:fillRect/>
          </a:stretch>
        </p:blipFill>
        <p:spPr>
          <a:xfrm>
            <a:off x="1659675" y="3863113"/>
            <a:ext cx="8191500" cy="1495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000">
                <a:latin typeface="Times New Roman"/>
                <a:ea typeface="Times New Roman"/>
                <a:cs typeface="Times New Roman"/>
                <a:sym typeface="Times New Roman"/>
              </a:rPr>
              <a:t>RESULT DISCUSSION</a:t>
            </a:r>
            <a:endParaRPr sz="3000">
              <a:latin typeface="Times New Roman"/>
              <a:ea typeface="Times New Roman"/>
              <a:cs typeface="Times New Roman"/>
              <a:sym typeface="Times New Roman"/>
            </a:endParaRPr>
          </a:p>
        </p:txBody>
      </p:sp>
      <p:sp>
        <p:nvSpPr>
          <p:cNvPr id="151" name="Google Shape;151;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52" name="Google Shape;152;p25"/>
          <p:cNvSpPr txBox="1"/>
          <p:nvPr/>
        </p:nvSpPr>
        <p:spPr>
          <a:xfrm>
            <a:off x="764025" y="1491950"/>
            <a:ext cx="11657100" cy="52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400">
                <a:solidFill>
                  <a:schemeClr val="dk1"/>
                </a:solidFill>
                <a:latin typeface="Times New Roman"/>
                <a:ea typeface="Times New Roman"/>
                <a:cs typeface="Times New Roman"/>
                <a:sym typeface="Times New Roman"/>
              </a:rPr>
              <a:t>2.  </a:t>
            </a:r>
            <a:r>
              <a:rPr b="1" lang="en-IN" sz="2400">
                <a:solidFill>
                  <a:schemeClr val="dk1"/>
                </a:solidFill>
                <a:latin typeface="Times New Roman"/>
                <a:ea typeface="Times New Roman"/>
                <a:cs typeface="Times New Roman"/>
                <a:sym typeface="Times New Roman"/>
              </a:rPr>
              <a:t>Comparison</a:t>
            </a:r>
            <a:r>
              <a:rPr b="1" lang="en-IN" sz="2400">
                <a:solidFill>
                  <a:schemeClr val="dk1"/>
                </a:solidFill>
                <a:latin typeface="Times New Roman"/>
                <a:ea typeface="Times New Roman"/>
                <a:cs typeface="Times New Roman"/>
                <a:sym typeface="Times New Roman"/>
              </a:rPr>
              <a:t> with previous works</a:t>
            </a:r>
            <a:endParaRPr b="1"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2"/>
              </a:solidFill>
            </a:endParaRPr>
          </a:p>
        </p:txBody>
      </p:sp>
      <p:pic>
        <p:nvPicPr>
          <p:cNvPr id="153" name="Google Shape;153;p25"/>
          <p:cNvPicPr preferRelativeResize="0"/>
          <p:nvPr/>
        </p:nvPicPr>
        <p:blipFill>
          <a:blip r:embed="rId3">
            <a:alphaModFix/>
          </a:blip>
          <a:stretch>
            <a:fillRect/>
          </a:stretch>
        </p:blipFill>
        <p:spPr>
          <a:xfrm>
            <a:off x="494375" y="2182363"/>
            <a:ext cx="8496300" cy="3305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000">
                <a:latin typeface="Times New Roman"/>
                <a:ea typeface="Times New Roman"/>
                <a:cs typeface="Times New Roman"/>
                <a:sym typeface="Times New Roman"/>
              </a:rPr>
              <a:t>RESULT DISCUSSION</a:t>
            </a:r>
            <a:endParaRPr sz="3000">
              <a:latin typeface="Times New Roman"/>
              <a:ea typeface="Times New Roman"/>
              <a:cs typeface="Times New Roman"/>
              <a:sym typeface="Times New Roman"/>
            </a:endParaRPr>
          </a:p>
        </p:txBody>
      </p:sp>
      <p:sp>
        <p:nvSpPr>
          <p:cNvPr id="159" name="Google Shape;159;p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60" name="Google Shape;160;p26"/>
          <p:cNvSpPr txBox="1"/>
          <p:nvPr/>
        </p:nvSpPr>
        <p:spPr>
          <a:xfrm>
            <a:off x="838200" y="1426700"/>
            <a:ext cx="11657100" cy="52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2400">
                <a:solidFill>
                  <a:schemeClr val="dk1"/>
                </a:solidFill>
                <a:latin typeface="Times New Roman"/>
                <a:ea typeface="Times New Roman"/>
                <a:cs typeface="Times New Roman"/>
                <a:sym typeface="Times New Roman"/>
              </a:rPr>
              <a:t>2. Comparison with previous works</a:t>
            </a:r>
            <a:endParaRPr b="1"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2"/>
              </a:solidFill>
              <a:latin typeface="Times New Roman"/>
              <a:ea typeface="Times New Roman"/>
              <a:cs typeface="Times New Roman"/>
              <a:sym typeface="Times New Roman"/>
            </a:endParaRPr>
          </a:p>
        </p:txBody>
      </p:sp>
      <p:pic>
        <p:nvPicPr>
          <p:cNvPr id="161" name="Google Shape;161;p26"/>
          <p:cNvPicPr preferRelativeResize="0"/>
          <p:nvPr/>
        </p:nvPicPr>
        <p:blipFill>
          <a:blip r:embed="rId3">
            <a:alphaModFix/>
          </a:blip>
          <a:stretch>
            <a:fillRect/>
          </a:stretch>
        </p:blipFill>
        <p:spPr>
          <a:xfrm>
            <a:off x="176875" y="1997600"/>
            <a:ext cx="8600225" cy="4152900"/>
          </a:xfrm>
          <a:prstGeom prst="rect">
            <a:avLst/>
          </a:prstGeom>
          <a:noFill/>
          <a:ln>
            <a:noFill/>
          </a:ln>
        </p:spPr>
      </p:pic>
      <p:pic>
        <p:nvPicPr>
          <p:cNvPr id="162" name="Google Shape;162;p26"/>
          <p:cNvPicPr preferRelativeResize="0"/>
          <p:nvPr/>
        </p:nvPicPr>
        <p:blipFill>
          <a:blip r:embed="rId4">
            <a:alphaModFix/>
          </a:blip>
          <a:stretch>
            <a:fillRect/>
          </a:stretch>
        </p:blipFill>
        <p:spPr>
          <a:xfrm>
            <a:off x="7938900" y="2213500"/>
            <a:ext cx="3721100" cy="3109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idx="12" type="sldNum"/>
          </p:nvPr>
        </p:nvSpPr>
        <p:spPr>
          <a:xfrm>
            <a:off x="8610600" y="6356350"/>
            <a:ext cx="27432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69" name="Google Shape;169;p27"/>
          <p:cNvSpPr txBox="1"/>
          <p:nvPr/>
        </p:nvSpPr>
        <p:spPr>
          <a:xfrm>
            <a:off x="1012400" y="867575"/>
            <a:ext cx="7016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3000">
                <a:solidFill>
                  <a:schemeClr val="dk1"/>
                </a:solidFill>
                <a:latin typeface="Times New Roman"/>
                <a:ea typeface="Times New Roman"/>
                <a:cs typeface="Times New Roman"/>
                <a:sym typeface="Times New Roman"/>
              </a:rPr>
              <a:t>LIMITATIONS</a:t>
            </a:r>
            <a:endParaRPr sz="3000">
              <a:solidFill>
                <a:schemeClr val="dk1"/>
              </a:solidFill>
              <a:latin typeface="Times New Roman"/>
              <a:ea typeface="Times New Roman"/>
              <a:cs typeface="Times New Roman"/>
              <a:sym typeface="Times New Roman"/>
            </a:endParaRPr>
          </a:p>
        </p:txBody>
      </p:sp>
      <p:sp>
        <p:nvSpPr>
          <p:cNvPr id="170" name="Google Shape;170;p27"/>
          <p:cNvSpPr txBox="1"/>
          <p:nvPr/>
        </p:nvSpPr>
        <p:spPr>
          <a:xfrm>
            <a:off x="419100" y="2009900"/>
            <a:ext cx="11353800" cy="26310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000"/>
              </a:spcBef>
              <a:spcAft>
                <a:spcPts val="0"/>
              </a:spcAft>
              <a:buNone/>
            </a:pPr>
            <a:r>
              <a:rPr lang="en-IN" sz="2600">
                <a:solidFill>
                  <a:schemeClr val="dk1"/>
                </a:solidFill>
                <a:latin typeface="Times New Roman"/>
                <a:ea typeface="Times New Roman"/>
                <a:cs typeface="Times New Roman"/>
                <a:sym typeface="Times New Roman"/>
              </a:rPr>
              <a:t>Despite its advancements, the system has a few limitations:</a:t>
            </a:r>
            <a:endParaRPr sz="2600">
              <a:solidFill>
                <a:schemeClr val="dk1"/>
              </a:solidFill>
              <a:latin typeface="Times New Roman"/>
              <a:ea typeface="Times New Roman"/>
              <a:cs typeface="Times New Roman"/>
              <a:sym typeface="Times New Roman"/>
            </a:endParaRPr>
          </a:p>
          <a:p>
            <a:pPr indent="-355600" lvl="0" marL="457200" rtl="0" algn="l">
              <a:lnSpc>
                <a:spcPct val="115000"/>
              </a:lnSpc>
              <a:spcBef>
                <a:spcPts val="1600"/>
              </a:spcBef>
              <a:spcAft>
                <a:spcPts val="0"/>
              </a:spcAft>
              <a:buClr>
                <a:schemeClr val="dk1"/>
              </a:buClr>
              <a:buSzPts val="2000"/>
              <a:buFont typeface="Times New Roman"/>
              <a:buChar char="●"/>
            </a:pPr>
            <a:r>
              <a:rPr lang="en-IN" sz="2600">
                <a:solidFill>
                  <a:schemeClr val="dk1"/>
                </a:solidFill>
                <a:latin typeface="Times New Roman"/>
                <a:ea typeface="Times New Roman"/>
                <a:cs typeface="Times New Roman"/>
                <a:sym typeface="Times New Roman"/>
              </a:rPr>
              <a:t>Relatively low compared to the high-resolution advertisements. </a:t>
            </a:r>
            <a:endParaRPr sz="26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IN" sz="2600">
                <a:solidFill>
                  <a:schemeClr val="dk1"/>
                </a:solidFill>
                <a:latin typeface="Times New Roman"/>
                <a:ea typeface="Times New Roman"/>
                <a:cs typeface="Times New Roman"/>
                <a:sym typeface="Times New Roman"/>
              </a:rPr>
              <a:t>Shorter average length of the videos. </a:t>
            </a:r>
            <a:endParaRPr sz="26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IN" sz="2600">
                <a:solidFill>
                  <a:schemeClr val="dk1"/>
                </a:solidFill>
                <a:latin typeface="Times New Roman"/>
                <a:ea typeface="Times New Roman"/>
                <a:cs typeface="Times New Roman"/>
                <a:sym typeface="Times New Roman"/>
              </a:rPr>
              <a:t>Addressing videos with multiple ads, which complicates the generation of accurate captions for each segment. </a:t>
            </a:r>
            <a:endParaRPr sz="26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000">
                <a:latin typeface="Times New Roman"/>
                <a:ea typeface="Times New Roman"/>
                <a:cs typeface="Times New Roman"/>
                <a:sym typeface="Times New Roman"/>
              </a:rPr>
              <a:t>CONCLUSION</a:t>
            </a:r>
            <a:endParaRPr sz="3000">
              <a:latin typeface="Times New Roman"/>
              <a:ea typeface="Times New Roman"/>
              <a:cs typeface="Times New Roman"/>
              <a:sym typeface="Times New Roman"/>
            </a:endParaRPr>
          </a:p>
        </p:txBody>
      </p:sp>
      <p:sp>
        <p:nvSpPr>
          <p:cNvPr id="176" name="Google Shape;176;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375770" lvl="0" marL="457200" rtl="0" algn="l">
              <a:lnSpc>
                <a:spcPct val="105000"/>
              </a:lnSpc>
              <a:spcBef>
                <a:spcPts val="0"/>
              </a:spcBef>
              <a:spcAft>
                <a:spcPts val="0"/>
              </a:spcAft>
              <a:buSzPts val="2318"/>
              <a:buFont typeface="Times New Roman"/>
              <a:buChar char="●"/>
            </a:pPr>
            <a:r>
              <a:rPr lang="en-IN" sz="2317">
                <a:solidFill>
                  <a:schemeClr val="dk1"/>
                </a:solidFill>
                <a:latin typeface="Times New Roman"/>
                <a:ea typeface="Times New Roman"/>
                <a:cs typeface="Times New Roman"/>
                <a:sym typeface="Times New Roman"/>
              </a:rPr>
              <a:t>This paper introduces a novel multimodal video captioning pipeline and multimodal Ad dataset tailored for the advertisement domain. </a:t>
            </a:r>
            <a:endParaRPr sz="2317">
              <a:solidFill>
                <a:schemeClr val="dk1"/>
              </a:solidFill>
              <a:latin typeface="Times New Roman"/>
              <a:ea typeface="Times New Roman"/>
              <a:cs typeface="Times New Roman"/>
              <a:sym typeface="Times New Roman"/>
            </a:endParaRPr>
          </a:p>
          <a:p>
            <a:pPr indent="-375770" lvl="0" marL="457200" rtl="0" algn="l">
              <a:lnSpc>
                <a:spcPct val="105000"/>
              </a:lnSpc>
              <a:spcBef>
                <a:spcPts val="0"/>
              </a:spcBef>
              <a:spcAft>
                <a:spcPts val="0"/>
              </a:spcAft>
              <a:buSzPts val="2318"/>
              <a:buFont typeface="Times New Roman"/>
              <a:buChar char="●"/>
            </a:pPr>
            <a:r>
              <a:rPr lang="en-IN" sz="2317">
                <a:solidFill>
                  <a:schemeClr val="dk1"/>
                </a:solidFill>
                <a:latin typeface="Times New Roman"/>
                <a:ea typeface="Times New Roman"/>
                <a:cs typeface="Times New Roman"/>
                <a:sym typeface="Times New Roman"/>
              </a:rPr>
              <a:t>By integrating advanced technologies, the system effectively captures intricate action sequences and contextual details.</a:t>
            </a:r>
            <a:endParaRPr sz="2317">
              <a:solidFill>
                <a:schemeClr val="dk1"/>
              </a:solidFill>
              <a:latin typeface="Times New Roman"/>
              <a:ea typeface="Times New Roman"/>
              <a:cs typeface="Times New Roman"/>
              <a:sym typeface="Times New Roman"/>
            </a:endParaRPr>
          </a:p>
          <a:p>
            <a:pPr indent="-375770" lvl="0" marL="457200" rtl="0" algn="l">
              <a:lnSpc>
                <a:spcPct val="105000"/>
              </a:lnSpc>
              <a:spcBef>
                <a:spcPts val="0"/>
              </a:spcBef>
              <a:spcAft>
                <a:spcPts val="0"/>
              </a:spcAft>
              <a:buSzPts val="2318"/>
              <a:buFont typeface="Times New Roman"/>
              <a:buChar char="●"/>
            </a:pPr>
            <a:r>
              <a:rPr lang="en-IN" sz="2317">
                <a:solidFill>
                  <a:schemeClr val="dk1"/>
                </a:solidFill>
                <a:latin typeface="Times New Roman"/>
                <a:ea typeface="Times New Roman"/>
                <a:cs typeface="Times New Roman"/>
                <a:sym typeface="Times New Roman"/>
              </a:rPr>
              <a:t>Potential enhancements include splitting videos with multiple ads into individual segments, allowing for more precise captioning.</a:t>
            </a:r>
            <a:endParaRPr sz="2317">
              <a:solidFill>
                <a:schemeClr val="dk1"/>
              </a:solidFill>
              <a:latin typeface="Times New Roman"/>
              <a:ea typeface="Times New Roman"/>
              <a:cs typeface="Times New Roman"/>
              <a:sym typeface="Times New Roman"/>
            </a:endParaRPr>
          </a:p>
          <a:p>
            <a:pPr indent="-375770" lvl="0" marL="457200" rtl="0" algn="l">
              <a:lnSpc>
                <a:spcPct val="105000"/>
              </a:lnSpc>
              <a:spcBef>
                <a:spcPts val="0"/>
              </a:spcBef>
              <a:spcAft>
                <a:spcPts val="0"/>
              </a:spcAft>
              <a:buSzPts val="2318"/>
              <a:buFont typeface="Times New Roman"/>
              <a:buChar char="●"/>
            </a:pPr>
            <a:r>
              <a:rPr lang="en-IN" sz="2317">
                <a:solidFill>
                  <a:schemeClr val="dk1"/>
                </a:solidFill>
                <a:latin typeface="Times New Roman"/>
                <a:ea typeface="Times New Roman"/>
                <a:cs typeface="Times New Roman"/>
                <a:sym typeface="Times New Roman"/>
              </a:rPr>
              <a:t>Looking ahead, this pipeline holds significant potential for applications such as text-to-video generation, video-based question answering, and automating the captioning process for companies, enabling faster and more consistent content creation.</a:t>
            </a:r>
            <a:endParaRPr sz="2317">
              <a:solidFill>
                <a:schemeClr val="dk1"/>
              </a:solidFill>
              <a:latin typeface="Times New Roman"/>
              <a:ea typeface="Times New Roman"/>
              <a:cs typeface="Times New Roman"/>
              <a:sym typeface="Times New Roman"/>
            </a:endParaRPr>
          </a:p>
          <a:p>
            <a:pPr indent="-50800" lvl="0" marL="228600" rtl="0" algn="l">
              <a:lnSpc>
                <a:spcPct val="105000"/>
              </a:lnSpc>
              <a:spcBef>
                <a:spcPts val="1600"/>
              </a:spcBef>
              <a:spcAft>
                <a:spcPts val="0"/>
              </a:spcAft>
              <a:buClr>
                <a:schemeClr val="dk1"/>
              </a:buClr>
              <a:buSzPts val="1100"/>
              <a:buNone/>
            </a:pPr>
            <a:r>
              <a:t/>
            </a:r>
            <a:endParaRPr sz="2200"/>
          </a:p>
          <a:p>
            <a:pPr indent="-50800" lvl="0" marL="228600" rtl="0" algn="l">
              <a:lnSpc>
                <a:spcPct val="105000"/>
              </a:lnSpc>
              <a:spcBef>
                <a:spcPts val="1600"/>
              </a:spcBef>
              <a:spcAft>
                <a:spcPts val="1600"/>
              </a:spcAft>
              <a:buClr>
                <a:schemeClr val="dk1"/>
              </a:buClr>
              <a:buSzPts val="1100"/>
              <a:buNone/>
            </a:pPr>
            <a:r>
              <a:t/>
            </a:r>
            <a:endParaRPr sz="2200"/>
          </a:p>
        </p:txBody>
      </p:sp>
      <p:sp>
        <p:nvSpPr>
          <p:cNvPr id="177" name="Google Shape;17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000">
                <a:latin typeface="Times New Roman"/>
                <a:ea typeface="Times New Roman"/>
                <a:cs typeface="Times New Roman"/>
                <a:sym typeface="Times New Roman"/>
              </a:rPr>
              <a:t>REFERENCES</a:t>
            </a:r>
            <a:endParaRPr sz="3000">
              <a:latin typeface="Times New Roman"/>
              <a:ea typeface="Times New Roman"/>
              <a:cs typeface="Times New Roman"/>
              <a:sym typeface="Times New Roman"/>
            </a:endParaRPr>
          </a:p>
        </p:txBody>
      </p:sp>
      <p:sp>
        <p:nvSpPr>
          <p:cNvPr id="183" name="Google Shape;183;p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84" name="Google Shape;184;p29"/>
          <p:cNvSpPr txBox="1"/>
          <p:nvPr/>
        </p:nvSpPr>
        <p:spPr>
          <a:xfrm>
            <a:off x="230100" y="1411675"/>
            <a:ext cx="11731800" cy="5121900"/>
          </a:xfrm>
          <a:prstGeom prst="rect">
            <a:avLst/>
          </a:prstGeom>
          <a:noFill/>
          <a:ln>
            <a:noFill/>
          </a:ln>
        </p:spPr>
        <p:txBody>
          <a:bodyPr anchorCtr="0" anchor="t" bIns="91425" lIns="91425" spcFirstLastPara="1" rIns="91425" wrap="square" tIns="91425">
            <a:spAutoFit/>
          </a:bodyPr>
          <a:lstStyle/>
          <a:p>
            <a:pPr indent="-215900" lvl="0" marL="215900" rtl="0" algn="l">
              <a:lnSpc>
                <a:spcPct val="115000"/>
              </a:lnSpc>
              <a:spcBef>
                <a:spcPts val="1200"/>
              </a:spcBef>
              <a:spcAft>
                <a:spcPts val="0"/>
              </a:spcAft>
              <a:buNone/>
            </a:pPr>
            <a:r>
              <a:rPr lang="en-IN" sz="700">
                <a:solidFill>
                  <a:schemeClr val="dk1"/>
                </a:solidFill>
              </a:rPr>
              <a:t>   </a:t>
            </a:r>
            <a:r>
              <a:rPr lang="en-IN" sz="1100">
                <a:solidFill>
                  <a:schemeClr val="dk1"/>
                </a:solidFill>
              </a:rPr>
              <a:t>1.</a:t>
            </a:r>
            <a:r>
              <a:rPr lang="en-IN" sz="700">
                <a:solidFill>
                  <a:schemeClr val="dk1"/>
                </a:solidFill>
              </a:rPr>
              <a:t>   </a:t>
            </a:r>
            <a:r>
              <a:rPr lang="en-IN" sz="1100">
                <a:solidFill>
                  <a:schemeClr val="dk1"/>
                </a:solidFill>
              </a:rPr>
              <a:t>Kaiming He et al., “Deep Residual Learning for Image Recognition” in IEEE Conference on Computer Vision and Pattern Recognition (CVPR), 2016</a:t>
            </a:r>
            <a:endParaRPr sz="1100">
              <a:solidFill>
                <a:schemeClr val="dk1"/>
              </a:solidFill>
            </a:endParaRPr>
          </a:p>
          <a:p>
            <a:pPr indent="-215900" lvl="0" marL="215900" rtl="0" algn="l">
              <a:lnSpc>
                <a:spcPct val="115000"/>
              </a:lnSpc>
              <a:spcBef>
                <a:spcPts val="1200"/>
              </a:spcBef>
              <a:spcAft>
                <a:spcPts val="0"/>
              </a:spcAft>
              <a:buNone/>
            </a:pPr>
            <a:r>
              <a:rPr lang="en-IN" sz="700">
                <a:solidFill>
                  <a:schemeClr val="dk1"/>
                </a:solidFill>
              </a:rPr>
              <a:t>   </a:t>
            </a:r>
            <a:r>
              <a:rPr lang="en-IN" sz="1100">
                <a:solidFill>
                  <a:schemeClr val="dk1"/>
                </a:solidFill>
              </a:rPr>
              <a:t>2.</a:t>
            </a:r>
            <a:r>
              <a:rPr lang="en-IN" sz="700">
                <a:solidFill>
                  <a:schemeClr val="dk1"/>
                </a:solidFill>
              </a:rPr>
              <a:t>   </a:t>
            </a:r>
            <a:r>
              <a:rPr lang="en-IN" sz="1100">
                <a:solidFill>
                  <a:schemeClr val="dk1"/>
                </a:solidFill>
                <a:highlight>
                  <a:srgbClr val="F8F9FA"/>
                </a:highlight>
              </a:rPr>
              <a:t>Liu H, Li C, Wu Q, Lee YJ (2024) “Visual instruction tuning”.In: Advances in neural information processing systems 36</a:t>
            </a:r>
            <a:endParaRPr sz="1100">
              <a:solidFill>
                <a:schemeClr val="dk1"/>
              </a:solidFill>
              <a:highlight>
                <a:srgbClr val="F8F9FA"/>
              </a:highlight>
            </a:endParaRPr>
          </a:p>
          <a:p>
            <a:pPr indent="-215900" lvl="0" marL="215900" rtl="0" algn="l">
              <a:lnSpc>
                <a:spcPct val="115000"/>
              </a:lnSpc>
              <a:spcBef>
                <a:spcPts val="1200"/>
              </a:spcBef>
              <a:spcAft>
                <a:spcPts val="0"/>
              </a:spcAft>
              <a:buNone/>
            </a:pPr>
            <a:r>
              <a:rPr lang="en-IN" sz="700">
                <a:solidFill>
                  <a:schemeClr val="dk1"/>
                </a:solidFill>
              </a:rPr>
              <a:t>   </a:t>
            </a:r>
            <a:r>
              <a:rPr lang="en-IN" sz="1100">
                <a:solidFill>
                  <a:schemeClr val="dk1"/>
                </a:solidFill>
              </a:rPr>
              <a:t>3.</a:t>
            </a:r>
            <a:r>
              <a:rPr lang="en-IN" sz="700">
                <a:solidFill>
                  <a:schemeClr val="dk1"/>
                </a:solidFill>
              </a:rPr>
              <a:t>   </a:t>
            </a:r>
            <a:r>
              <a:rPr lang="en-IN" sz="1100">
                <a:solidFill>
                  <a:schemeClr val="dk1"/>
                </a:solidFill>
              </a:rPr>
              <a:t>Gemini Team Google (2023).” Gemini: A Family of Highly Capable Multimodal Models” in arXiv:2312.11805[cs.CL]</a:t>
            </a:r>
            <a:endParaRPr sz="1100">
              <a:solidFill>
                <a:schemeClr val="dk1"/>
              </a:solidFill>
            </a:endParaRPr>
          </a:p>
          <a:p>
            <a:pPr indent="-215900" lvl="0" marL="215900" rtl="0" algn="l">
              <a:lnSpc>
                <a:spcPct val="115000"/>
              </a:lnSpc>
              <a:spcBef>
                <a:spcPts val="1200"/>
              </a:spcBef>
              <a:spcAft>
                <a:spcPts val="0"/>
              </a:spcAft>
              <a:buNone/>
            </a:pPr>
            <a:r>
              <a:rPr lang="en-IN" sz="700">
                <a:solidFill>
                  <a:schemeClr val="dk1"/>
                </a:solidFill>
              </a:rPr>
              <a:t>   </a:t>
            </a:r>
            <a:r>
              <a:rPr lang="en-IN" sz="1100">
                <a:solidFill>
                  <a:schemeClr val="dk1"/>
                </a:solidFill>
              </a:rPr>
              <a:t>4.</a:t>
            </a:r>
            <a:r>
              <a:rPr lang="en-IN" sz="700">
                <a:solidFill>
                  <a:schemeClr val="dk1"/>
                </a:solidFill>
              </a:rPr>
              <a:t>   </a:t>
            </a:r>
            <a:r>
              <a:rPr lang="en-IN" sz="1100">
                <a:solidFill>
                  <a:schemeClr val="dk1"/>
                </a:solidFill>
              </a:rPr>
              <a:t>S. Abu-El-Haija et al., "YouTube-8M: A Large-Scale Video Classification Benchmark," in Proceedings of the 2016 ACM on Multimedia Conference (MM), 2016.</a:t>
            </a:r>
            <a:endParaRPr sz="1100">
              <a:solidFill>
                <a:schemeClr val="dk1"/>
              </a:solidFill>
            </a:endParaRPr>
          </a:p>
          <a:p>
            <a:pPr indent="-215900" lvl="0" marL="215900" rtl="0" algn="l">
              <a:lnSpc>
                <a:spcPct val="115000"/>
              </a:lnSpc>
              <a:spcBef>
                <a:spcPts val="1200"/>
              </a:spcBef>
              <a:spcAft>
                <a:spcPts val="0"/>
              </a:spcAft>
              <a:buNone/>
            </a:pPr>
            <a:r>
              <a:rPr lang="en-IN" sz="700">
                <a:solidFill>
                  <a:schemeClr val="dk1"/>
                </a:solidFill>
              </a:rPr>
              <a:t>   </a:t>
            </a:r>
            <a:r>
              <a:rPr lang="en-IN" sz="1100">
                <a:solidFill>
                  <a:schemeClr val="dk1"/>
                </a:solidFill>
              </a:rPr>
              <a:t>5.</a:t>
            </a:r>
            <a:r>
              <a:rPr lang="en-IN" sz="700">
                <a:solidFill>
                  <a:schemeClr val="dk1"/>
                </a:solidFill>
              </a:rPr>
              <a:t>   </a:t>
            </a:r>
            <a:r>
              <a:rPr lang="en-IN" sz="1100">
                <a:solidFill>
                  <a:schemeClr val="dk1"/>
                </a:solidFill>
              </a:rPr>
              <a:t>Tian Y, Guan C, Goodman J, Moore M, Xu C (2019) Audio-Visual Interpretable and Controllable Video Captioning. In: CVPR Workshops</a:t>
            </a:r>
            <a:endParaRPr sz="1100">
              <a:solidFill>
                <a:schemeClr val="dk1"/>
              </a:solidFill>
            </a:endParaRPr>
          </a:p>
          <a:p>
            <a:pPr indent="-215900" lvl="0" marL="215900" rtl="0" algn="l">
              <a:lnSpc>
                <a:spcPct val="115000"/>
              </a:lnSpc>
              <a:spcBef>
                <a:spcPts val="1200"/>
              </a:spcBef>
              <a:spcAft>
                <a:spcPts val="0"/>
              </a:spcAft>
              <a:buNone/>
            </a:pPr>
            <a:r>
              <a:rPr lang="en-IN" sz="700">
                <a:solidFill>
                  <a:schemeClr val="dk1"/>
                </a:solidFill>
              </a:rPr>
              <a:t>   </a:t>
            </a:r>
            <a:r>
              <a:rPr lang="en-IN" sz="1100">
                <a:solidFill>
                  <a:schemeClr val="dk1"/>
                </a:solidFill>
              </a:rPr>
              <a:t>6.</a:t>
            </a:r>
            <a:r>
              <a:rPr lang="en-IN" sz="700">
                <a:solidFill>
                  <a:schemeClr val="dk1"/>
                </a:solidFill>
              </a:rPr>
              <a:t>   </a:t>
            </a:r>
            <a:r>
              <a:rPr lang="en-IN" sz="1100">
                <a:solidFill>
                  <a:schemeClr val="dk1"/>
                </a:solidFill>
              </a:rPr>
              <a:t>Varma S, James D (2021) An efficient deep learning‐based video captioning framework using multi‐modal features. Expert Systems.</a:t>
            </a:r>
            <a:r>
              <a:rPr lang="en-IN" sz="1100">
                <a:solidFill>
                  <a:schemeClr val="dk1"/>
                </a:solidFill>
                <a:uFill>
                  <a:noFill/>
                </a:uFill>
                <a:hlinkClick r:id="rId3">
                  <a:extLst>
                    <a:ext uri="{A12FA001-AC4F-418D-AE19-62706E023703}">
                      <ahyp:hlinkClr val="tx"/>
                    </a:ext>
                  </a:extLst>
                </a:hlinkClick>
              </a:rPr>
              <a:t> </a:t>
            </a:r>
            <a:r>
              <a:rPr lang="en-IN" sz="1100" u="sng">
                <a:solidFill>
                  <a:schemeClr val="hlink"/>
                </a:solidFill>
                <a:hlinkClick r:id="rId4"/>
              </a:rPr>
              <a:t>https://doi.org/10.1111/exsy.12920</a:t>
            </a:r>
            <a:endParaRPr sz="1100" u="sng">
              <a:solidFill>
                <a:schemeClr val="hlink"/>
              </a:solidFill>
            </a:endParaRPr>
          </a:p>
          <a:p>
            <a:pPr indent="-215900" lvl="0" marL="215900" rtl="0" algn="l">
              <a:lnSpc>
                <a:spcPct val="115000"/>
              </a:lnSpc>
              <a:spcBef>
                <a:spcPts val="1200"/>
              </a:spcBef>
              <a:spcAft>
                <a:spcPts val="0"/>
              </a:spcAft>
              <a:buNone/>
            </a:pPr>
            <a:r>
              <a:rPr lang="en-IN" sz="700">
                <a:solidFill>
                  <a:schemeClr val="dk1"/>
                </a:solidFill>
              </a:rPr>
              <a:t>   </a:t>
            </a:r>
            <a:r>
              <a:rPr lang="en-IN" sz="1100">
                <a:solidFill>
                  <a:schemeClr val="dk1"/>
                </a:solidFill>
              </a:rPr>
              <a:t>7.</a:t>
            </a:r>
            <a:r>
              <a:rPr lang="en-IN" sz="700">
                <a:solidFill>
                  <a:schemeClr val="dk1"/>
                </a:solidFill>
              </a:rPr>
              <a:t>   </a:t>
            </a:r>
            <a:r>
              <a:rPr lang="en-IN" sz="1100">
                <a:solidFill>
                  <a:schemeClr val="dk1"/>
                </a:solidFill>
              </a:rPr>
              <a:t>Zheng Y, Zhang Y, Feng R, Zhang T, Fan W (2022) Stacked Multimodal Attention Network for Context-Aware Video Captioning. IEEE Transactions on Circuits and Systems for Video Technology 32:31–42.</a:t>
            </a:r>
            <a:r>
              <a:rPr lang="en-IN" sz="1100">
                <a:solidFill>
                  <a:schemeClr val="dk1"/>
                </a:solidFill>
                <a:uFill>
                  <a:noFill/>
                </a:uFill>
                <a:hlinkClick r:id="rId5">
                  <a:extLst>
                    <a:ext uri="{A12FA001-AC4F-418D-AE19-62706E023703}">
                      <ahyp:hlinkClr val="tx"/>
                    </a:ext>
                  </a:extLst>
                </a:hlinkClick>
              </a:rPr>
              <a:t> </a:t>
            </a:r>
            <a:r>
              <a:rPr lang="en-IN" sz="1100" u="sng">
                <a:solidFill>
                  <a:schemeClr val="hlink"/>
                </a:solidFill>
                <a:hlinkClick r:id="rId6"/>
              </a:rPr>
              <a:t>https://doi.org/10.1109/TCSVT.2021.3058626</a:t>
            </a:r>
            <a:endParaRPr sz="1100" u="sng">
              <a:solidFill>
                <a:schemeClr val="hlink"/>
              </a:solidFill>
            </a:endParaRPr>
          </a:p>
          <a:p>
            <a:pPr indent="-215900" lvl="0" marL="215900" rtl="0" algn="l">
              <a:lnSpc>
                <a:spcPct val="115000"/>
              </a:lnSpc>
              <a:spcBef>
                <a:spcPts val="1200"/>
              </a:spcBef>
              <a:spcAft>
                <a:spcPts val="0"/>
              </a:spcAft>
              <a:buNone/>
            </a:pPr>
            <a:r>
              <a:rPr lang="en-IN" sz="700">
                <a:solidFill>
                  <a:schemeClr val="dk1"/>
                </a:solidFill>
              </a:rPr>
              <a:t>   </a:t>
            </a:r>
            <a:r>
              <a:rPr lang="en-IN" sz="1100">
                <a:solidFill>
                  <a:schemeClr val="dk1"/>
                </a:solidFill>
              </a:rPr>
              <a:t>8.</a:t>
            </a:r>
            <a:r>
              <a:rPr lang="en-IN" sz="700">
                <a:solidFill>
                  <a:schemeClr val="dk1"/>
                </a:solidFill>
              </a:rPr>
              <a:t>   </a:t>
            </a:r>
            <a:r>
              <a:rPr lang="en-IN" sz="1100">
                <a:solidFill>
                  <a:schemeClr val="dk1"/>
                </a:solidFill>
              </a:rPr>
              <a:t>R. S. Bhooshan and S. K., "A Multimodal Framework for Video Caption Generation," in IEEE Access, vol. 10, pp. 92166-92176, 2022, doi: 10.1109/ACCESS.2022.3202526</a:t>
            </a:r>
            <a:endParaRPr sz="1100">
              <a:solidFill>
                <a:schemeClr val="dk1"/>
              </a:solidFill>
            </a:endParaRPr>
          </a:p>
          <a:p>
            <a:pPr indent="-215900" lvl="0" marL="215900" rtl="0" algn="l">
              <a:lnSpc>
                <a:spcPct val="115000"/>
              </a:lnSpc>
              <a:spcBef>
                <a:spcPts val="1200"/>
              </a:spcBef>
              <a:spcAft>
                <a:spcPts val="0"/>
              </a:spcAft>
              <a:buNone/>
            </a:pPr>
            <a:r>
              <a:rPr lang="en-IN" sz="700">
                <a:solidFill>
                  <a:schemeClr val="dk1"/>
                </a:solidFill>
              </a:rPr>
              <a:t>   </a:t>
            </a:r>
            <a:r>
              <a:rPr lang="en-IN" sz="1100">
                <a:solidFill>
                  <a:schemeClr val="dk1"/>
                </a:solidFill>
              </a:rPr>
              <a:t>9.</a:t>
            </a:r>
            <a:r>
              <a:rPr lang="en-IN" sz="700">
                <a:solidFill>
                  <a:schemeClr val="dk1"/>
                </a:solidFill>
              </a:rPr>
              <a:t>   </a:t>
            </a:r>
            <a:r>
              <a:rPr lang="en-IN" sz="1100">
                <a:solidFill>
                  <a:schemeClr val="dk1"/>
                </a:solidFill>
              </a:rPr>
              <a:t>Sishuo Chen et al., “Towards Multimodal Video Paragraph Captioning Models Robust to Missing Modality”, in arXiv:2403.19221 [cs.CV]</a:t>
            </a:r>
            <a:endParaRPr sz="1100">
              <a:solidFill>
                <a:schemeClr val="dk1"/>
              </a:solidFill>
            </a:endParaRPr>
          </a:p>
          <a:p>
            <a:pPr indent="-215900" lvl="0" marL="215900" rtl="0" algn="l">
              <a:lnSpc>
                <a:spcPct val="115000"/>
              </a:lnSpc>
              <a:spcBef>
                <a:spcPts val="1200"/>
              </a:spcBef>
              <a:spcAft>
                <a:spcPts val="0"/>
              </a:spcAft>
              <a:buNone/>
            </a:pPr>
            <a:r>
              <a:rPr lang="en-IN" sz="1100">
                <a:solidFill>
                  <a:schemeClr val="dk1"/>
                </a:solidFill>
              </a:rPr>
              <a:t>10.</a:t>
            </a:r>
            <a:r>
              <a:rPr lang="en-IN" sz="700">
                <a:solidFill>
                  <a:schemeClr val="dk1"/>
                </a:solidFill>
              </a:rPr>
              <a:t>   </a:t>
            </a:r>
            <a:r>
              <a:rPr lang="en-IN" sz="1100">
                <a:solidFill>
                  <a:schemeClr val="dk1"/>
                </a:solidFill>
              </a:rPr>
              <a:t>Khurram Soomro et al., “UCF101: A Dataset of 101 Human Actions Classes From Videos in The Wild”, in arXiv:1212.0402 [cs.CV]</a:t>
            </a:r>
            <a:endParaRPr sz="1100">
              <a:solidFill>
                <a:schemeClr val="dk1"/>
              </a:solidFill>
            </a:endParaRPr>
          </a:p>
          <a:p>
            <a:pPr indent="-215900" lvl="0" marL="215900" rtl="0" algn="l">
              <a:lnSpc>
                <a:spcPct val="115000"/>
              </a:lnSpc>
              <a:spcBef>
                <a:spcPts val="1200"/>
              </a:spcBef>
              <a:spcAft>
                <a:spcPts val="0"/>
              </a:spcAft>
              <a:buNone/>
            </a:pPr>
            <a:r>
              <a:rPr lang="en-IN" sz="1100">
                <a:solidFill>
                  <a:schemeClr val="dk1"/>
                </a:solidFill>
              </a:rPr>
              <a:t>11.</a:t>
            </a:r>
            <a:r>
              <a:rPr lang="en-IN" sz="700">
                <a:solidFill>
                  <a:schemeClr val="dk1"/>
                </a:solidFill>
              </a:rPr>
              <a:t>   </a:t>
            </a:r>
            <a:r>
              <a:rPr lang="en-IN" sz="1100">
                <a:solidFill>
                  <a:schemeClr val="dk1"/>
                </a:solidFill>
              </a:rPr>
              <a:t>A. Miech, D. Zhukov, J. -B. Alayrac, M. Tapaswi, I. Laptev and J. Sivic, "HowTo100M: Learning a Text-Video Embedding by Watching Hundred Million Narrated Video Clips," 2019 IEEE/CVF International Conference on Computer Vision (ICCV), Seoul, Korea (South), 2019, pp. 2630-2640</a:t>
            </a:r>
            <a:endParaRPr sz="1100">
              <a:solidFill>
                <a:schemeClr val="dk1"/>
              </a:solidFill>
            </a:endParaRPr>
          </a:p>
          <a:p>
            <a:pPr indent="-215900" lvl="0" marL="215900" rtl="0" algn="l">
              <a:lnSpc>
                <a:spcPct val="115000"/>
              </a:lnSpc>
              <a:spcBef>
                <a:spcPts val="1200"/>
              </a:spcBef>
              <a:spcAft>
                <a:spcPts val="0"/>
              </a:spcAft>
              <a:buNone/>
            </a:pPr>
            <a:r>
              <a:rPr lang="en-IN" sz="1100">
                <a:solidFill>
                  <a:schemeClr val="dk1"/>
                </a:solidFill>
              </a:rPr>
              <a:t>12.</a:t>
            </a:r>
            <a:r>
              <a:rPr lang="en-IN" sz="700">
                <a:solidFill>
                  <a:schemeClr val="dk1"/>
                </a:solidFill>
              </a:rPr>
              <a:t>   </a:t>
            </a:r>
            <a:r>
              <a:rPr lang="en-IN" sz="1100">
                <a:solidFill>
                  <a:schemeClr val="dk1"/>
                </a:solidFill>
              </a:rPr>
              <a:t>J. Xu, T. Mei, T. Yao and Y. Rui, "MSR-VTT: A Large Video Description Dataset for Bridging Video and Language," 2016 IEEE Conference on Computer Vision and Pattern Recognition (CVPR), Las Vegas, NV, USA, 2016, pp. 5288-5296</a:t>
            </a:r>
            <a:endParaRPr sz="1100">
              <a:solidFill>
                <a:schemeClr val="dk1"/>
              </a:solidFill>
            </a:endParaRPr>
          </a:p>
          <a:p>
            <a:pPr indent="-215900" lvl="0" marL="21590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772950"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sz="3000">
                <a:latin typeface="Times New Roman"/>
                <a:ea typeface="Times New Roman"/>
                <a:cs typeface="Times New Roman"/>
                <a:sym typeface="Times New Roman"/>
              </a:rPr>
              <a:t>REFERENCES</a:t>
            </a:r>
            <a:endParaRPr sz="3000">
              <a:latin typeface="Times New Roman"/>
              <a:ea typeface="Times New Roman"/>
              <a:cs typeface="Times New Roman"/>
              <a:sym typeface="Times New Roman"/>
            </a:endParaRPr>
          </a:p>
        </p:txBody>
      </p:sp>
      <p:sp>
        <p:nvSpPr>
          <p:cNvPr id="190" name="Google Shape;190;p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
        <p:nvSpPr>
          <p:cNvPr id="191" name="Google Shape;191;p30"/>
          <p:cNvSpPr txBox="1"/>
          <p:nvPr/>
        </p:nvSpPr>
        <p:spPr>
          <a:xfrm>
            <a:off x="174000" y="974650"/>
            <a:ext cx="11844000" cy="5746800"/>
          </a:xfrm>
          <a:prstGeom prst="rect">
            <a:avLst/>
          </a:prstGeom>
          <a:noFill/>
          <a:ln>
            <a:noFill/>
          </a:ln>
        </p:spPr>
        <p:txBody>
          <a:bodyPr anchorCtr="0" anchor="t" bIns="91425" lIns="91425" spcFirstLastPara="1" rIns="91425" wrap="square" tIns="91425">
            <a:spAutoFit/>
          </a:bodyPr>
          <a:lstStyle/>
          <a:p>
            <a:pPr indent="-215900" lvl="0" marL="215900" rtl="0" algn="l">
              <a:lnSpc>
                <a:spcPct val="115000"/>
              </a:lnSpc>
              <a:spcBef>
                <a:spcPts val="1200"/>
              </a:spcBef>
              <a:spcAft>
                <a:spcPts val="0"/>
              </a:spcAft>
              <a:buNone/>
            </a:pPr>
            <a:r>
              <a:rPr lang="en-IN" sz="1100">
                <a:solidFill>
                  <a:schemeClr val="dk1"/>
                </a:solidFill>
              </a:rPr>
              <a:t>13</a:t>
            </a:r>
            <a:r>
              <a:rPr lang="en-IN" sz="1100">
                <a:solidFill>
                  <a:schemeClr val="dk1"/>
                </a:solidFill>
              </a:rPr>
              <a:t>.</a:t>
            </a:r>
            <a:r>
              <a:rPr lang="en-IN" sz="700">
                <a:solidFill>
                  <a:schemeClr val="dk1"/>
                </a:solidFill>
              </a:rPr>
              <a:t>   </a:t>
            </a:r>
            <a:r>
              <a:rPr lang="en-IN" sz="1100">
                <a:solidFill>
                  <a:schemeClr val="dk1"/>
                </a:solidFill>
              </a:rPr>
              <a:t>H. Xue et al., "Advancing High-Resolution Video-Language Representation with Large-Scale Video Transcriptions," 2022 IEEE/CVF Conference on Computer Vision and Pattern Recognition (CVPR), New Orleans, LA, USA, 2022, pp. 5026-5035</a:t>
            </a:r>
            <a:endParaRPr sz="1100">
              <a:solidFill>
                <a:schemeClr val="dk1"/>
              </a:solidFill>
            </a:endParaRPr>
          </a:p>
          <a:p>
            <a:pPr indent="-215900" lvl="0" marL="215900" rtl="0" algn="l">
              <a:lnSpc>
                <a:spcPct val="115000"/>
              </a:lnSpc>
              <a:spcBef>
                <a:spcPts val="1200"/>
              </a:spcBef>
              <a:spcAft>
                <a:spcPts val="0"/>
              </a:spcAft>
              <a:buNone/>
            </a:pPr>
            <a:r>
              <a:rPr lang="en-IN" sz="1100">
                <a:solidFill>
                  <a:schemeClr val="dk1"/>
                </a:solidFill>
              </a:rPr>
              <a:t>14.</a:t>
            </a:r>
            <a:r>
              <a:rPr lang="en-IN" sz="700">
                <a:solidFill>
                  <a:schemeClr val="dk1"/>
                </a:solidFill>
              </a:rPr>
              <a:t>   </a:t>
            </a:r>
            <a:r>
              <a:rPr lang="en-IN" sz="1100">
                <a:solidFill>
                  <a:schemeClr val="dk1"/>
                </a:solidFill>
              </a:rPr>
              <a:t>Z. Hussain et al., "Automatic Understanding of Image and Video Advertisements," in 2017 IEEE Conference on Computer Vision and Pattern Recognition (CVPR), Honolulu, HI, USA, 2017 pp. 1100-1110.</a:t>
            </a:r>
            <a:endParaRPr sz="1100">
              <a:solidFill>
                <a:schemeClr val="dk1"/>
              </a:solidFill>
            </a:endParaRPr>
          </a:p>
          <a:p>
            <a:pPr indent="-215900" lvl="0" marL="215900" rtl="0" algn="l">
              <a:lnSpc>
                <a:spcPct val="115000"/>
              </a:lnSpc>
              <a:spcBef>
                <a:spcPts val="1200"/>
              </a:spcBef>
              <a:spcAft>
                <a:spcPts val="0"/>
              </a:spcAft>
              <a:buNone/>
            </a:pPr>
            <a:r>
              <a:rPr lang="en-IN" sz="1100">
                <a:solidFill>
                  <a:schemeClr val="dk1"/>
                </a:solidFill>
              </a:rPr>
              <a:t>15.</a:t>
            </a:r>
            <a:r>
              <a:rPr lang="en-IN" sz="700">
                <a:solidFill>
                  <a:schemeClr val="dk1"/>
                </a:solidFill>
              </a:rPr>
              <a:t>   </a:t>
            </a:r>
            <a:r>
              <a:rPr lang="en-IN" sz="1100">
                <a:solidFill>
                  <a:schemeClr val="dk1"/>
                </a:solidFill>
              </a:rPr>
              <a:t>Tao, L., Nakamura, S., Wang, X. et al. A large-scale television advertising dataset for detailed impression analysis. Multimed Tools Appl 83, 18779–18802 (2024).</a:t>
            </a:r>
            <a:endParaRPr sz="1100">
              <a:solidFill>
                <a:schemeClr val="dk1"/>
              </a:solidFill>
            </a:endParaRPr>
          </a:p>
          <a:p>
            <a:pPr indent="-215900" lvl="0" marL="215900" rtl="0" algn="l">
              <a:lnSpc>
                <a:spcPct val="115000"/>
              </a:lnSpc>
              <a:spcBef>
                <a:spcPts val="1200"/>
              </a:spcBef>
              <a:spcAft>
                <a:spcPts val="0"/>
              </a:spcAft>
              <a:buNone/>
            </a:pPr>
            <a:r>
              <a:rPr lang="en-IN" sz="1100">
                <a:solidFill>
                  <a:schemeClr val="dk1"/>
                </a:solidFill>
              </a:rPr>
              <a:t>16.</a:t>
            </a:r>
            <a:r>
              <a:rPr lang="en-IN" sz="700">
                <a:solidFill>
                  <a:schemeClr val="dk1"/>
                </a:solidFill>
              </a:rPr>
              <a:t>   </a:t>
            </a:r>
            <a:r>
              <a:rPr lang="en-IN" sz="1100">
                <a:solidFill>
                  <a:schemeClr val="dk1"/>
                </a:solidFill>
              </a:rPr>
              <a:t>Alec Radford et al.,(2022) “Robust speech recognition via large-scale weak supervision”,   presented at ICML'23: Proceedings of the 40th International Conference on Machine Learning.</a:t>
            </a:r>
            <a:endParaRPr sz="1100">
              <a:solidFill>
                <a:schemeClr val="dk1"/>
              </a:solidFill>
            </a:endParaRPr>
          </a:p>
          <a:p>
            <a:pPr indent="-215900" lvl="0" marL="215900" rtl="0" algn="l">
              <a:lnSpc>
                <a:spcPct val="115000"/>
              </a:lnSpc>
              <a:spcBef>
                <a:spcPts val="1200"/>
              </a:spcBef>
              <a:spcAft>
                <a:spcPts val="0"/>
              </a:spcAft>
              <a:buNone/>
            </a:pPr>
            <a:r>
              <a:rPr lang="en-IN" sz="1100">
                <a:solidFill>
                  <a:schemeClr val="dk1"/>
                </a:solidFill>
              </a:rPr>
              <a:t>17.</a:t>
            </a:r>
            <a:r>
              <a:rPr lang="en-IN" sz="700">
                <a:solidFill>
                  <a:schemeClr val="dk1"/>
                </a:solidFill>
              </a:rPr>
              <a:t>   </a:t>
            </a:r>
            <a:r>
              <a:rPr lang="en-IN" sz="1100">
                <a:solidFill>
                  <a:schemeClr val="dk1"/>
                </a:solidFill>
              </a:rPr>
              <a:t>C. Lin, "ROUGE: A Package for Automatic Evaluation of Summaries,", presented at the Text Summarization Branches Out: Proceedings of the ACL-04 Workshop, 2004.</a:t>
            </a:r>
            <a:endParaRPr sz="1100">
              <a:solidFill>
                <a:schemeClr val="dk1"/>
              </a:solidFill>
            </a:endParaRPr>
          </a:p>
          <a:p>
            <a:pPr indent="0" lvl="0" marL="0" rtl="0" algn="l">
              <a:lnSpc>
                <a:spcPct val="115000"/>
              </a:lnSpc>
              <a:spcBef>
                <a:spcPts val="1200"/>
              </a:spcBef>
              <a:spcAft>
                <a:spcPts val="0"/>
              </a:spcAft>
              <a:buNone/>
            </a:pPr>
            <a:r>
              <a:rPr lang="en-IN" sz="1100">
                <a:solidFill>
                  <a:schemeClr val="dk1"/>
                </a:solidFill>
              </a:rPr>
              <a:t>18.</a:t>
            </a:r>
            <a:r>
              <a:rPr lang="en-IN" sz="700">
                <a:solidFill>
                  <a:schemeClr val="dk1"/>
                </a:solidFill>
              </a:rPr>
              <a:t>   </a:t>
            </a:r>
            <a:r>
              <a:rPr lang="en-IN" sz="1100">
                <a:solidFill>
                  <a:schemeClr val="dk1"/>
                </a:solidFill>
              </a:rPr>
              <a:t>C. Papineni, K. Roukos, T. Ward, and W. Zhu, "BLEU: a Method for Automatic Evaluation of Machine Translation," in Proceedings of the 40th Annual Meeting on Association for Computational Linguistics (ACL), 2002.</a:t>
            </a:r>
            <a:endParaRPr sz="1100">
              <a:solidFill>
                <a:schemeClr val="dk1"/>
              </a:solidFill>
            </a:endParaRPr>
          </a:p>
          <a:p>
            <a:pPr indent="-215900" lvl="0" marL="215900" rtl="0" algn="l">
              <a:lnSpc>
                <a:spcPct val="115000"/>
              </a:lnSpc>
              <a:spcBef>
                <a:spcPts val="1200"/>
              </a:spcBef>
              <a:spcAft>
                <a:spcPts val="0"/>
              </a:spcAft>
              <a:buNone/>
            </a:pPr>
            <a:r>
              <a:rPr lang="en-IN" sz="1100">
                <a:solidFill>
                  <a:schemeClr val="dk1"/>
                </a:solidFill>
              </a:rPr>
              <a:t>19.</a:t>
            </a:r>
            <a:r>
              <a:rPr lang="en-IN" sz="700">
                <a:solidFill>
                  <a:schemeClr val="dk1"/>
                </a:solidFill>
              </a:rPr>
              <a:t>   </a:t>
            </a:r>
            <a:r>
              <a:rPr lang="en-IN" sz="1100">
                <a:solidFill>
                  <a:schemeClr val="dk1"/>
                </a:solidFill>
              </a:rPr>
              <a:t>Tianyi Zhang et al., “BERTScore: Evaluating Text Generation with BERT”, presented at the ICLR,2024.</a:t>
            </a:r>
            <a:endParaRPr sz="1100">
              <a:solidFill>
                <a:schemeClr val="dk1"/>
              </a:solidFill>
            </a:endParaRPr>
          </a:p>
          <a:p>
            <a:pPr indent="-215900" lvl="0" marL="215900" rtl="0" algn="l">
              <a:lnSpc>
                <a:spcPct val="115000"/>
              </a:lnSpc>
              <a:spcBef>
                <a:spcPts val="1200"/>
              </a:spcBef>
              <a:spcAft>
                <a:spcPts val="0"/>
              </a:spcAft>
              <a:buNone/>
            </a:pPr>
            <a:r>
              <a:rPr lang="en-IN" sz="1100">
                <a:solidFill>
                  <a:schemeClr val="dk1"/>
                </a:solidFill>
              </a:rPr>
              <a:t>20.</a:t>
            </a:r>
            <a:r>
              <a:rPr lang="en-IN" sz="700">
                <a:solidFill>
                  <a:schemeClr val="dk1"/>
                </a:solidFill>
              </a:rPr>
              <a:t>   </a:t>
            </a:r>
            <a:r>
              <a:rPr lang="en-IN" sz="1100">
                <a:solidFill>
                  <a:schemeClr val="dk1"/>
                </a:solidFill>
              </a:rPr>
              <a:t>Satanjeev Banerjee and Alon Lavie. 2005. METEOR: An Automatic Metric for MT Evaluation with Improved Correlation with Human Judgments. In Proceedings of the ACL Workshop on Intrinsic and Extrinsic Evaluation Measures for Machine Translation and/or Summarization, pages 65–72, Ann Arbor, Michigan. Association for Computational Linguistics.</a:t>
            </a:r>
            <a:endParaRPr sz="1100">
              <a:solidFill>
                <a:schemeClr val="dk1"/>
              </a:solidFill>
            </a:endParaRPr>
          </a:p>
          <a:p>
            <a:pPr indent="-215900" lvl="0" marL="215900" rtl="0" algn="l">
              <a:lnSpc>
                <a:spcPct val="115000"/>
              </a:lnSpc>
              <a:spcBef>
                <a:spcPts val="1200"/>
              </a:spcBef>
              <a:spcAft>
                <a:spcPts val="0"/>
              </a:spcAft>
              <a:buNone/>
            </a:pPr>
            <a:r>
              <a:rPr lang="en-IN" sz="1100">
                <a:solidFill>
                  <a:schemeClr val="dk1"/>
                </a:solidFill>
              </a:rPr>
              <a:t>21.</a:t>
            </a:r>
            <a:r>
              <a:rPr lang="en-IN" sz="700">
                <a:solidFill>
                  <a:schemeClr val="dk1"/>
                </a:solidFill>
              </a:rPr>
              <a:t>   </a:t>
            </a:r>
            <a:r>
              <a:rPr lang="en-IN" sz="1100">
                <a:solidFill>
                  <a:schemeClr val="dk1"/>
                </a:solidFill>
              </a:rPr>
              <a:t>C. Sun, A. Myers, C. Vondrick, K. Murphy and C. Schmid, "VideoBERT: A Joint Model for Video and Language Representation Learning," in 2019 IEEE/CVF International Conference on Computer Vision (ICCV), Seoul, Korea (South), 2019 pp. 7463-7472, doi: 10.1109/ICCV.2019.00756.</a:t>
            </a:r>
            <a:endParaRPr sz="1100">
              <a:solidFill>
                <a:schemeClr val="dk1"/>
              </a:solidFill>
            </a:endParaRPr>
          </a:p>
          <a:p>
            <a:pPr indent="-215900" lvl="0" marL="215900" rtl="0" algn="l">
              <a:lnSpc>
                <a:spcPct val="115000"/>
              </a:lnSpc>
              <a:spcBef>
                <a:spcPts val="1200"/>
              </a:spcBef>
              <a:spcAft>
                <a:spcPts val="0"/>
              </a:spcAft>
              <a:buNone/>
            </a:pPr>
            <a:r>
              <a:rPr lang="en-IN" sz="1100">
                <a:solidFill>
                  <a:schemeClr val="dk1"/>
                </a:solidFill>
              </a:rPr>
              <a:t>22.</a:t>
            </a:r>
            <a:r>
              <a:rPr lang="en-IN" sz="700">
                <a:solidFill>
                  <a:schemeClr val="dk1"/>
                </a:solidFill>
              </a:rPr>
              <a:t>   </a:t>
            </a:r>
            <a:r>
              <a:rPr lang="en-IN" sz="1100">
                <a:solidFill>
                  <a:schemeClr val="dk1"/>
                </a:solidFill>
              </a:rPr>
              <a:t>Paul Hongsuck Seo et al., “End-to-end Generative Pretraining for Multimodal Video Captioning”, in arXiv:2201.08264 [cs.CV].</a:t>
            </a:r>
            <a:endParaRPr sz="1100">
              <a:solidFill>
                <a:schemeClr val="dk1"/>
              </a:solidFill>
            </a:endParaRPr>
          </a:p>
          <a:p>
            <a:pPr indent="-215900" lvl="0" marL="215900" rtl="0" algn="l">
              <a:lnSpc>
                <a:spcPct val="115000"/>
              </a:lnSpc>
              <a:spcBef>
                <a:spcPts val="1200"/>
              </a:spcBef>
              <a:spcAft>
                <a:spcPts val="0"/>
              </a:spcAft>
              <a:buNone/>
            </a:pPr>
            <a:r>
              <a:rPr lang="en-IN" sz="1100">
                <a:solidFill>
                  <a:schemeClr val="dk1"/>
                </a:solidFill>
              </a:rPr>
              <a:t>23.</a:t>
            </a:r>
            <a:r>
              <a:rPr lang="en-IN" sz="700">
                <a:solidFill>
                  <a:schemeClr val="dk1"/>
                </a:solidFill>
              </a:rPr>
              <a:t>   </a:t>
            </a:r>
            <a:r>
              <a:rPr lang="en-IN" sz="1100">
                <a:solidFill>
                  <a:schemeClr val="dk1"/>
                </a:solidFill>
              </a:rPr>
              <a:t>Hang Zhang, Xin Li, and Lidong Bing. 2023. Video-LLaMA: An Instruction-tuned Audio-Visual Language Model for Video Understanding. In Proceedings of the 2023 Conference on Empirical Methods in Natural Language Processing: System Demonstrations, pages 543–553, Singapore. Association for Computational Linguistics.</a:t>
            </a:r>
            <a:endParaRPr sz="1100">
              <a:solidFill>
                <a:schemeClr val="dk1"/>
              </a:solidFill>
            </a:endParaRPr>
          </a:p>
          <a:p>
            <a:pPr indent="-215900" lvl="0" marL="215900" rtl="0" algn="l">
              <a:lnSpc>
                <a:spcPct val="115000"/>
              </a:lnSpc>
              <a:spcBef>
                <a:spcPts val="1200"/>
              </a:spcBef>
              <a:spcAft>
                <a:spcPts val="1200"/>
              </a:spcAft>
              <a:buNone/>
            </a:pPr>
            <a:r>
              <a:rPr lang="en-IN" sz="1100">
                <a:solidFill>
                  <a:schemeClr val="dk1"/>
                </a:solidFill>
              </a:rPr>
              <a:t>24.</a:t>
            </a:r>
            <a:r>
              <a:rPr lang="en-IN" sz="700">
                <a:solidFill>
                  <a:schemeClr val="dk1"/>
                </a:solidFill>
              </a:rPr>
              <a:t>   </a:t>
            </a:r>
            <a:r>
              <a:rPr lang="en-IN" sz="1100">
                <a:solidFill>
                  <a:schemeClr val="dk1"/>
                </a:solidFill>
              </a:rPr>
              <a:t>Rowan Zellers, Ximing Lu, Jack Hessel, Youngjae Yu, Jae Sung Park, Jize Cao, Ali Farhadi, and Yejin Choi. MERLOT: Multimodal neural script knowledge models. ZIn Advances in Neural Information Processing Systems (NeurIPS), 2021.</a:t>
            </a:r>
            <a:endParaRPr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idx="1" type="body"/>
          </p:nvPr>
        </p:nvSpPr>
        <p:spPr>
          <a:xfrm>
            <a:off x="838200" y="69967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0" lvl="0" marL="0" rtl="0" algn="ctr">
              <a:lnSpc>
                <a:spcPct val="90000"/>
              </a:lnSpc>
              <a:spcBef>
                <a:spcPts val="1000"/>
              </a:spcBef>
              <a:spcAft>
                <a:spcPts val="1600"/>
              </a:spcAft>
              <a:buClr>
                <a:schemeClr val="dk1"/>
              </a:buClr>
              <a:buSzPts val="5400"/>
              <a:buNone/>
            </a:pPr>
            <a:r>
              <a:rPr lang="en-IN" sz="5400">
                <a:latin typeface="Times New Roman"/>
                <a:ea typeface="Times New Roman"/>
                <a:cs typeface="Times New Roman"/>
                <a:sym typeface="Times New Roman"/>
              </a:rPr>
              <a:t>Thank You</a:t>
            </a:r>
            <a:endParaRPr sz="5400">
              <a:latin typeface="Times New Roman"/>
              <a:ea typeface="Times New Roman"/>
              <a:cs typeface="Times New Roman"/>
              <a:sym typeface="Times New Roman"/>
            </a:endParaRPr>
          </a:p>
        </p:txBody>
      </p:sp>
      <p:sp>
        <p:nvSpPr>
          <p:cNvPr id="197" name="Google Shape;19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IN">
                <a:solidFill>
                  <a:schemeClr val="dk2"/>
                </a:solidFill>
                <a:latin typeface="Arial"/>
                <a:ea typeface="Arial"/>
                <a:cs typeface="Arial"/>
                <a:sym typeface="Arial"/>
              </a:rPr>
              <a:t>‹#›</a:t>
            </a:fld>
            <a:endParaRPr>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